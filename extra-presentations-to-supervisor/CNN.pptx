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6" r:id="rId11"/>
    <p:sldId id="267" r:id="rId12"/>
    <p:sldId id="265" r:id="rId13"/>
  </p:sldIdLst>
  <p:sldSz cx="14630400" cy="8229600"/>
  <p:notesSz cx="8229600" cy="14630400"/>
  <p:embeddedFontLst>
    <p:embeddedFont>
      <p:font typeface="Tomorrow" pitchFamily="2" charset="0"/>
      <p:regular r:id="rId15"/>
    </p:embeddedFont>
    <p:embeddedFont>
      <p:font typeface="Tomorrow Semi Bold" pitchFamily="2" charset="0"/>
      <p:regular r:id="rId16"/>
    </p:embeddedFont>
  </p:embeddedFontLst>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87" d="100"/>
          <a:sy n="87" d="100"/>
        </p:scale>
        <p:origin x="208"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5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011442"/>
            <a:ext cx="13042821" cy="2657832"/>
          </a:xfrm>
          <a:prstGeom prst="rect">
            <a:avLst/>
          </a:prstGeom>
          <a:noFill/>
          <a:ln/>
        </p:spPr>
        <p:txBody>
          <a:bodyPr wrap="square" lIns="0" tIns="0" rIns="0" bIns="0" rtlCol="0" anchor="t"/>
          <a:lstStyle/>
          <a:p>
            <a:pPr marL="0" indent="0" algn="l">
              <a:lnSpc>
                <a:spcPts val="6950"/>
              </a:lnSpc>
              <a:buNone/>
            </a:pPr>
            <a:r>
              <a:rPr lang="en-US" sz="5550" dirty="0">
                <a:solidFill>
                  <a:srgbClr val="1D1D1B"/>
                </a:solidFill>
                <a:latin typeface="Tomorrow Semi Bold" pitchFamily="34" charset="0"/>
                <a:ea typeface="Tomorrow Semi Bold" pitchFamily="34" charset="-122"/>
                <a:cs typeface="Tomorrow Semi Bold" pitchFamily="34" charset="-120"/>
              </a:rPr>
              <a:t>Leveraging Deep Learning for Advanced Threat Detection &amp; Traffic Analysis</a:t>
            </a:r>
            <a:endParaRPr lang="en-US" sz="5550" dirty="0"/>
          </a:p>
        </p:txBody>
      </p:sp>
      <p:sp>
        <p:nvSpPr>
          <p:cNvPr id="3" name="Text 1"/>
          <p:cNvSpPr/>
          <p:nvPr/>
        </p:nvSpPr>
        <p:spPr>
          <a:xfrm>
            <a:off x="793790" y="4782622"/>
            <a:ext cx="9801225" cy="443032"/>
          </a:xfrm>
          <a:prstGeom prst="rect">
            <a:avLst/>
          </a:prstGeom>
          <a:noFill/>
          <a:ln/>
        </p:spPr>
        <p:txBody>
          <a:bodyPr wrap="none" lIns="0" tIns="0" rIns="0" bIns="0" rtlCol="0" anchor="t"/>
          <a:lstStyle/>
          <a:p>
            <a:pPr marL="0" indent="0" algn="l">
              <a:lnSpc>
                <a:spcPts val="3450"/>
              </a:lnSpc>
              <a:buNone/>
            </a:pPr>
            <a:r>
              <a:rPr lang="en-US" sz="2750" dirty="0">
                <a:solidFill>
                  <a:srgbClr val="1D1D1B"/>
                </a:solidFill>
                <a:latin typeface="Tomorrow Semi Bold" pitchFamily="34" charset="0"/>
                <a:ea typeface="Tomorrow Semi Bold" pitchFamily="34" charset="-122"/>
                <a:cs typeface="Tomorrow Semi Bold" pitchFamily="34" charset="-120"/>
              </a:rPr>
              <a:t>Convolutional Neural Networks for Network Monitoring</a:t>
            </a:r>
            <a:endParaRPr lang="en-US" sz="2750" dirty="0"/>
          </a:p>
        </p:txBody>
      </p:sp>
      <p:sp>
        <p:nvSpPr>
          <p:cNvPr id="4" name="Text 2"/>
          <p:cNvSpPr/>
          <p:nvPr/>
        </p:nvSpPr>
        <p:spPr>
          <a:xfrm>
            <a:off x="793790" y="5650944"/>
            <a:ext cx="13042821" cy="567095"/>
          </a:xfrm>
          <a:prstGeom prst="rect">
            <a:avLst/>
          </a:prstGeom>
          <a:noFill/>
          <a:ln/>
        </p:spPr>
        <p:txBody>
          <a:bodyPr wrap="none" lIns="0" tIns="0" rIns="0" bIns="0" rtlCol="0" anchor="t"/>
          <a:lstStyle/>
          <a:p>
            <a:pPr marL="0" indent="0" algn="l">
              <a:lnSpc>
                <a:spcPts val="4450"/>
              </a:lnSpc>
              <a:buNone/>
            </a:pPr>
            <a:r>
              <a:rPr lang="en-US" sz="2750" dirty="0">
                <a:solidFill>
                  <a:srgbClr val="61615C"/>
                </a:solidFill>
                <a:latin typeface="Tomorrow" pitchFamily="34" charset="0"/>
                <a:ea typeface="Tomorrow" pitchFamily="34" charset="-122"/>
                <a:cs typeface="Tomorrow" pitchFamily="34" charset="-120"/>
              </a:rPr>
              <a:t>Presenter: Younas, Umar, Shamina | Date: Oct 15, 2025</a:t>
            </a:r>
            <a:endParaRPr lang="en-US" sz="2750" dirty="0"/>
          </a:p>
        </p:txBody>
      </p:sp>
      <p:sp>
        <p:nvSpPr>
          <p:cNvPr id="5" name="Rounded Rectangle 4">
            <a:extLst>
              <a:ext uri="{FF2B5EF4-FFF2-40B4-BE49-F238E27FC236}">
                <a16:creationId xmlns:a16="http://schemas.microsoft.com/office/drawing/2014/main" id="{8B83FF94-B157-D7EA-D0D1-5286ECE9A322}"/>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25116"/>
            <a:ext cx="7088267" cy="885944"/>
          </a:xfrm>
          <a:prstGeom prst="rect">
            <a:avLst/>
          </a:prstGeom>
          <a:noFill/>
          <a:ln/>
        </p:spPr>
        <p:txBody>
          <a:bodyPr wrap="none" lIns="0" tIns="0" rIns="0" bIns="0" rtlCol="0" anchor="t"/>
          <a:lstStyle/>
          <a:p>
            <a:pPr marL="0" indent="0" algn="l">
              <a:lnSpc>
                <a:spcPts val="6950"/>
              </a:lnSpc>
              <a:buNone/>
            </a:pPr>
            <a:r>
              <a:rPr lang="en-US" sz="5550" dirty="0">
                <a:solidFill>
                  <a:srgbClr val="1D1D1B"/>
                </a:solidFill>
                <a:latin typeface="Tomorrow Semi Bold" pitchFamily="34" charset="0"/>
                <a:ea typeface="Tomorrow Semi Bold" pitchFamily="34" charset="-122"/>
                <a:cs typeface="Tomorrow Semi Bold" pitchFamily="34" charset="-120"/>
              </a:rPr>
              <a:t>Agenda</a:t>
            </a:r>
            <a:endParaRPr lang="en-US" sz="5550" dirty="0"/>
          </a:p>
        </p:txBody>
      </p:sp>
      <p:sp>
        <p:nvSpPr>
          <p:cNvPr id="3" name="Shape 1"/>
          <p:cNvSpPr/>
          <p:nvPr/>
        </p:nvSpPr>
        <p:spPr>
          <a:xfrm>
            <a:off x="793790" y="4841200"/>
            <a:ext cx="13042821" cy="38100"/>
          </a:xfrm>
          <a:prstGeom prst="roundRect">
            <a:avLst>
              <a:gd name="adj" fmla="val 111628"/>
            </a:avLst>
          </a:prstGeom>
          <a:solidFill>
            <a:srgbClr val="D6D0D0"/>
          </a:solidFill>
          <a:ln/>
        </p:spPr>
        <p:txBody>
          <a:bodyPr/>
          <a:lstStyle/>
          <a:p>
            <a:endParaRPr lang="en-PK"/>
          </a:p>
        </p:txBody>
      </p:sp>
      <p:sp>
        <p:nvSpPr>
          <p:cNvPr id="4" name="Shape 2"/>
          <p:cNvSpPr/>
          <p:nvPr/>
        </p:nvSpPr>
        <p:spPr>
          <a:xfrm>
            <a:off x="2086094" y="3990618"/>
            <a:ext cx="38100" cy="850583"/>
          </a:xfrm>
          <a:prstGeom prst="roundRect">
            <a:avLst>
              <a:gd name="adj" fmla="val 111628"/>
            </a:avLst>
          </a:prstGeom>
          <a:solidFill>
            <a:srgbClr val="D6D0D0"/>
          </a:solidFill>
          <a:ln/>
        </p:spPr>
        <p:txBody>
          <a:bodyPr/>
          <a:lstStyle/>
          <a:p>
            <a:endParaRPr lang="en-PK"/>
          </a:p>
        </p:txBody>
      </p:sp>
      <p:sp>
        <p:nvSpPr>
          <p:cNvPr id="5" name="Shape 3"/>
          <p:cNvSpPr/>
          <p:nvPr/>
        </p:nvSpPr>
        <p:spPr>
          <a:xfrm>
            <a:off x="1786176" y="4522232"/>
            <a:ext cx="637937" cy="637937"/>
          </a:xfrm>
          <a:prstGeom prst="roundRect">
            <a:avLst>
              <a:gd name="adj" fmla="val 6667"/>
            </a:avLst>
          </a:prstGeom>
          <a:solidFill>
            <a:srgbClr val="F0EAEA"/>
          </a:solidFill>
          <a:ln/>
        </p:spPr>
        <p:txBody>
          <a:bodyPr/>
          <a:lstStyle/>
          <a:p>
            <a:endParaRPr lang="en-PK"/>
          </a:p>
        </p:txBody>
      </p:sp>
      <p:sp>
        <p:nvSpPr>
          <p:cNvPr id="6" name="Text 4"/>
          <p:cNvSpPr/>
          <p:nvPr/>
        </p:nvSpPr>
        <p:spPr>
          <a:xfrm>
            <a:off x="1892498"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1</a:t>
            </a:r>
            <a:endParaRPr lang="en-US" sz="3300" dirty="0"/>
          </a:p>
        </p:txBody>
      </p:sp>
      <p:sp>
        <p:nvSpPr>
          <p:cNvPr id="7" name="Text 5"/>
          <p:cNvSpPr/>
          <p:nvPr/>
        </p:nvSpPr>
        <p:spPr>
          <a:xfrm>
            <a:off x="1077278" y="2378035"/>
            <a:ext cx="2055733" cy="1329095"/>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Evolving Network Threats</a:t>
            </a:r>
            <a:endParaRPr lang="en-US" sz="2750" dirty="0"/>
          </a:p>
        </p:txBody>
      </p:sp>
      <p:sp>
        <p:nvSpPr>
          <p:cNvPr id="8" name="Shape 6"/>
          <p:cNvSpPr/>
          <p:nvPr/>
        </p:nvSpPr>
        <p:spPr>
          <a:xfrm>
            <a:off x="3574613" y="4841200"/>
            <a:ext cx="38100" cy="850583"/>
          </a:xfrm>
          <a:prstGeom prst="roundRect">
            <a:avLst>
              <a:gd name="adj" fmla="val 111628"/>
            </a:avLst>
          </a:prstGeom>
          <a:solidFill>
            <a:srgbClr val="D6D0D0"/>
          </a:solidFill>
          <a:ln/>
        </p:spPr>
        <p:txBody>
          <a:bodyPr/>
          <a:lstStyle/>
          <a:p>
            <a:endParaRPr lang="en-PK"/>
          </a:p>
        </p:txBody>
      </p:sp>
      <p:sp>
        <p:nvSpPr>
          <p:cNvPr id="9" name="Shape 7"/>
          <p:cNvSpPr/>
          <p:nvPr/>
        </p:nvSpPr>
        <p:spPr>
          <a:xfrm>
            <a:off x="3274695" y="4522232"/>
            <a:ext cx="637937" cy="637937"/>
          </a:xfrm>
          <a:prstGeom prst="roundRect">
            <a:avLst>
              <a:gd name="adj" fmla="val 6667"/>
            </a:avLst>
          </a:prstGeom>
          <a:solidFill>
            <a:srgbClr val="F0EAEA"/>
          </a:solidFill>
          <a:ln/>
        </p:spPr>
        <p:txBody>
          <a:bodyPr/>
          <a:lstStyle/>
          <a:p>
            <a:endParaRPr lang="en-PK"/>
          </a:p>
        </p:txBody>
      </p:sp>
      <p:sp>
        <p:nvSpPr>
          <p:cNvPr id="10" name="Text 8"/>
          <p:cNvSpPr/>
          <p:nvPr/>
        </p:nvSpPr>
        <p:spPr>
          <a:xfrm>
            <a:off x="3381018"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2</a:t>
            </a:r>
            <a:endParaRPr lang="en-US" sz="3300" dirty="0"/>
          </a:p>
        </p:txBody>
      </p:sp>
      <p:sp>
        <p:nvSpPr>
          <p:cNvPr id="11" name="Text 9"/>
          <p:cNvSpPr/>
          <p:nvPr/>
        </p:nvSpPr>
        <p:spPr>
          <a:xfrm>
            <a:off x="2565797" y="5975271"/>
            <a:ext cx="2055852" cy="1329095"/>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ML &amp; Neural Networks</a:t>
            </a:r>
            <a:endParaRPr lang="en-US" sz="2750" dirty="0"/>
          </a:p>
        </p:txBody>
      </p:sp>
      <p:sp>
        <p:nvSpPr>
          <p:cNvPr id="12" name="Shape 10"/>
          <p:cNvSpPr/>
          <p:nvPr/>
        </p:nvSpPr>
        <p:spPr>
          <a:xfrm>
            <a:off x="5063133" y="3990618"/>
            <a:ext cx="38100" cy="850583"/>
          </a:xfrm>
          <a:prstGeom prst="roundRect">
            <a:avLst>
              <a:gd name="adj" fmla="val 111628"/>
            </a:avLst>
          </a:prstGeom>
          <a:solidFill>
            <a:srgbClr val="D6D0D0"/>
          </a:solidFill>
          <a:ln/>
        </p:spPr>
        <p:txBody>
          <a:bodyPr/>
          <a:lstStyle/>
          <a:p>
            <a:endParaRPr lang="en-PK"/>
          </a:p>
        </p:txBody>
      </p:sp>
      <p:sp>
        <p:nvSpPr>
          <p:cNvPr id="13" name="Shape 11"/>
          <p:cNvSpPr/>
          <p:nvPr/>
        </p:nvSpPr>
        <p:spPr>
          <a:xfrm>
            <a:off x="4763214" y="4522232"/>
            <a:ext cx="637937" cy="637937"/>
          </a:xfrm>
          <a:prstGeom prst="roundRect">
            <a:avLst>
              <a:gd name="adj" fmla="val 6667"/>
            </a:avLst>
          </a:prstGeom>
          <a:solidFill>
            <a:srgbClr val="F0EAEA"/>
          </a:solidFill>
          <a:ln/>
        </p:spPr>
        <p:txBody>
          <a:bodyPr/>
          <a:lstStyle/>
          <a:p>
            <a:endParaRPr lang="en-PK"/>
          </a:p>
        </p:txBody>
      </p:sp>
      <p:sp>
        <p:nvSpPr>
          <p:cNvPr id="14" name="Text 12"/>
          <p:cNvSpPr/>
          <p:nvPr/>
        </p:nvSpPr>
        <p:spPr>
          <a:xfrm>
            <a:off x="4869537"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3</a:t>
            </a:r>
            <a:endParaRPr lang="en-US" sz="3300" dirty="0"/>
          </a:p>
        </p:txBody>
      </p:sp>
      <p:sp>
        <p:nvSpPr>
          <p:cNvPr id="15" name="Text 13"/>
          <p:cNvSpPr/>
          <p:nvPr/>
        </p:nvSpPr>
        <p:spPr>
          <a:xfrm>
            <a:off x="4054316" y="2378035"/>
            <a:ext cx="2055852" cy="1329095"/>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CNN Fundamentals</a:t>
            </a:r>
            <a:endParaRPr lang="en-US" sz="2750" dirty="0"/>
          </a:p>
        </p:txBody>
      </p:sp>
      <p:sp>
        <p:nvSpPr>
          <p:cNvPr id="16" name="Shape 14"/>
          <p:cNvSpPr/>
          <p:nvPr/>
        </p:nvSpPr>
        <p:spPr>
          <a:xfrm>
            <a:off x="6551771" y="4841200"/>
            <a:ext cx="38100" cy="850583"/>
          </a:xfrm>
          <a:prstGeom prst="roundRect">
            <a:avLst>
              <a:gd name="adj" fmla="val 111628"/>
            </a:avLst>
          </a:prstGeom>
          <a:solidFill>
            <a:srgbClr val="D6D0D0"/>
          </a:solidFill>
          <a:ln/>
        </p:spPr>
        <p:txBody>
          <a:bodyPr/>
          <a:lstStyle/>
          <a:p>
            <a:endParaRPr lang="en-PK"/>
          </a:p>
        </p:txBody>
      </p:sp>
      <p:sp>
        <p:nvSpPr>
          <p:cNvPr id="17" name="Shape 15"/>
          <p:cNvSpPr/>
          <p:nvPr/>
        </p:nvSpPr>
        <p:spPr>
          <a:xfrm>
            <a:off x="6251853" y="4522232"/>
            <a:ext cx="637937" cy="637937"/>
          </a:xfrm>
          <a:prstGeom prst="roundRect">
            <a:avLst>
              <a:gd name="adj" fmla="val 6667"/>
            </a:avLst>
          </a:prstGeom>
          <a:solidFill>
            <a:srgbClr val="F0EAEA"/>
          </a:solidFill>
          <a:ln/>
        </p:spPr>
        <p:txBody>
          <a:bodyPr/>
          <a:lstStyle/>
          <a:p>
            <a:endParaRPr lang="en-PK"/>
          </a:p>
        </p:txBody>
      </p:sp>
      <p:sp>
        <p:nvSpPr>
          <p:cNvPr id="18" name="Text 16"/>
          <p:cNvSpPr/>
          <p:nvPr/>
        </p:nvSpPr>
        <p:spPr>
          <a:xfrm>
            <a:off x="6358176"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4</a:t>
            </a:r>
            <a:endParaRPr lang="en-US" sz="3300" dirty="0"/>
          </a:p>
        </p:txBody>
      </p:sp>
      <p:sp>
        <p:nvSpPr>
          <p:cNvPr id="19" name="Text 17"/>
          <p:cNvSpPr/>
          <p:nvPr/>
        </p:nvSpPr>
        <p:spPr>
          <a:xfrm>
            <a:off x="5542955" y="5975271"/>
            <a:ext cx="2055852" cy="1329095"/>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Data Transformation</a:t>
            </a:r>
            <a:endParaRPr lang="en-US" sz="2750" dirty="0"/>
          </a:p>
        </p:txBody>
      </p:sp>
      <p:sp>
        <p:nvSpPr>
          <p:cNvPr id="20" name="Shape 18"/>
          <p:cNvSpPr/>
          <p:nvPr/>
        </p:nvSpPr>
        <p:spPr>
          <a:xfrm>
            <a:off x="8040291" y="3990618"/>
            <a:ext cx="38100" cy="850583"/>
          </a:xfrm>
          <a:prstGeom prst="roundRect">
            <a:avLst>
              <a:gd name="adj" fmla="val 111628"/>
            </a:avLst>
          </a:prstGeom>
          <a:solidFill>
            <a:srgbClr val="D6D0D0"/>
          </a:solidFill>
          <a:ln/>
        </p:spPr>
        <p:txBody>
          <a:bodyPr/>
          <a:lstStyle/>
          <a:p>
            <a:endParaRPr lang="en-PK"/>
          </a:p>
        </p:txBody>
      </p:sp>
      <p:sp>
        <p:nvSpPr>
          <p:cNvPr id="21" name="Shape 19"/>
          <p:cNvSpPr/>
          <p:nvPr/>
        </p:nvSpPr>
        <p:spPr>
          <a:xfrm>
            <a:off x="7740372" y="4522232"/>
            <a:ext cx="637937" cy="637937"/>
          </a:xfrm>
          <a:prstGeom prst="roundRect">
            <a:avLst>
              <a:gd name="adj" fmla="val 6667"/>
            </a:avLst>
          </a:prstGeom>
          <a:solidFill>
            <a:srgbClr val="F0EAEA"/>
          </a:solidFill>
          <a:ln/>
        </p:spPr>
        <p:txBody>
          <a:bodyPr/>
          <a:lstStyle/>
          <a:p>
            <a:endParaRPr lang="en-PK"/>
          </a:p>
        </p:txBody>
      </p:sp>
      <p:sp>
        <p:nvSpPr>
          <p:cNvPr id="22" name="Text 20"/>
          <p:cNvSpPr/>
          <p:nvPr/>
        </p:nvSpPr>
        <p:spPr>
          <a:xfrm>
            <a:off x="7846695"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5</a:t>
            </a:r>
            <a:endParaRPr lang="en-US" sz="3300" dirty="0"/>
          </a:p>
        </p:txBody>
      </p:sp>
      <p:sp>
        <p:nvSpPr>
          <p:cNvPr id="23" name="Text 21"/>
          <p:cNvSpPr/>
          <p:nvPr/>
        </p:nvSpPr>
        <p:spPr>
          <a:xfrm>
            <a:off x="7031474" y="2378035"/>
            <a:ext cx="2055852" cy="886063"/>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CNNs in Action</a:t>
            </a:r>
            <a:endParaRPr lang="en-US" sz="2750" dirty="0"/>
          </a:p>
        </p:txBody>
      </p:sp>
      <p:sp>
        <p:nvSpPr>
          <p:cNvPr id="24" name="Shape 22"/>
          <p:cNvSpPr/>
          <p:nvPr/>
        </p:nvSpPr>
        <p:spPr>
          <a:xfrm>
            <a:off x="9528929" y="4841200"/>
            <a:ext cx="38100" cy="850583"/>
          </a:xfrm>
          <a:prstGeom prst="roundRect">
            <a:avLst>
              <a:gd name="adj" fmla="val 111628"/>
            </a:avLst>
          </a:prstGeom>
          <a:solidFill>
            <a:srgbClr val="D6D0D0"/>
          </a:solidFill>
          <a:ln/>
        </p:spPr>
        <p:txBody>
          <a:bodyPr/>
          <a:lstStyle/>
          <a:p>
            <a:endParaRPr lang="en-PK"/>
          </a:p>
        </p:txBody>
      </p:sp>
      <p:sp>
        <p:nvSpPr>
          <p:cNvPr id="25" name="Shape 23"/>
          <p:cNvSpPr/>
          <p:nvPr/>
        </p:nvSpPr>
        <p:spPr>
          <a:xfrm>
            <a:off x="9229011" y="4522232"/>
            <a:ext cx="637937" cy="637937"/>
          </a:xfrm>
          <a:prstGeom prst="roundRect">
            <a:avLst>
              <a:gd name="adj" fmla="val 6667"/>
            </a:avLst>
          </a:prstGeom>
          <a:solidFill>
            <a:srgbClr val="F0EAEA"/>
          </a:solidFill>
          <a:ln/>
        </p:spPr>
        <p:txBody>
          <a:bodyPr/>
          <a:lstStyle/>
          <a:p>
            <a:endParaRPr lang="en-PK"/>
          </a:p>
        </p:txBody>
      </p:sp>
      <p:sp>
        <p:nvSpPr>
          <p:cNvPr id="26" name="Text 24"/>
          <p:cNvSpPr/>
          <p:nvPr/>
        </p:nvSpPr>
        <p:spPr>
          <a:xfrm>
            <a:off x="9335333"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6</a:t>
            </a:r>
            <a:endParaRPr lang="en-US" sz="3300" dirty="0"/>
          </a:p>
        </p:txBody>
      </p:sp>
      <p:sp>
        <p:nvSpPr>
          <p:cNvPr id="27" name="Text 25"/>
          <p:cNvSpPr/>
          <p:nvPr/>
        </p:nvSpPr>
        <p:spPr>
          <a:xfrm>
            <a:off x="8520113" y="5975271"/>
            <a:ext cx="2055852" cy="1329095"/>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Advantages &amp; Challenges</a:t>
            </a:r>
            <a:endParaRPr lang="en-US" sz="2750" dirty="0"/>
          </a:p>
        </p:txBody>
      </p:sp>
      <p:sp>
        <p:nvSpPr>
          <p:cNvPr id="28" name="Shape 26"/>
          <p:cNvSpPr/>
          <p:nvPr/>
        </p:nvSpPr>
        <p:spPr>
          <a:xfrm>
            <a:off x="11017448" y="3990618"/>
            <a:ext cx="38100" cy="850583"/>
          </a:xfrm>
          <a:prstGeom prst="roundRect">
            <a:avLst>
              <a:gd name="adj" fmla="val 111628"/>
            </a:avLst>
          </a:prstGeom>
          <a:solidFill>
            <a:srgbClr val="D6D0D0"/>
          </a:solidFill>
          <a:ln/>
        </p:spPr>
        <p:txBody>
          <a:bodyPr/>
          <a:lstStyle/>
          <a:p>
            <a:endParaRPr lang="en-PK"/>
          </a:p>
        </p:txBody>
      </p:sp>
      <p:sp>
        <p:nvSpPr>
          <p:cNvPr id="29" name="Shape 27"/>
          <p:cNvSpPr/>
          <p:nvPr/>
        </p:nvSpPr>
        <p:spPr>
          <a:xfrm>
            <a:off x="10717530" y="4522232"/>
            <a:ext cx="637937" cy="637937"/>
          </a:xfrm>
          <a:prstGeom prst="roundRect">
            <a:avLst>
              <a:gd name="adj" fmla="val 6667"/>
            </a:avLst>
          </a:prstGeom>
          <a:solidFill>
            <a:srgbClr val="F0EAEA"/>
          </a:solidFill>
          <a:ln/>
        </p:spPr>
        <p:txBody>
          <a:bodyPr/>
          <a:lstStyle/>
          <a:p>
            <a:endParaRPr lang="en-PK"/>
          </a:p>
        </p:txBody>
      </p:sp>
      <p:sp>
        <p:nvSpPr>
          <p:cNvPr id="30" name="Text 28"/>
          <p:cNvSpPr/>
          <p:nvPr/>
        </p:nvSpPr>
        <p:spPr>
          <a:xfrm>
            <a:off x="10823853"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7</a:t>
            </a:r>
            <a:endParaRPr lang="en-US" sz="3300" dirty="0"/>
          </a:p>
        </p:txBody>
      </p:sp>
      <p:sp>
        <p:nvSpPr>
          <p:cNvPr id="31" name="Text 29"/>
          <p:cNvSpPr/>
          <p:nvPr/>
        </p:nvSpPr>
        <p:spPr>
          <a:xfrm>
            <a:off x="10008632" y="2378035"/>
            <a:ext cx="2055852" cy="886063"/>
          </a:xfrm>
          <a:prstGeom prst="rect">
            <a:avLst/>
          </a:prstGeom>
          <a:noFill/>
          <a:ln/>
        </p:spPr>
        <p:txBody>
          <a:bodyPr wrap="squar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Conclusion &amp; Q&amp;A</a:t>
            </a:r>
            <a:endParaRPr lang="en-US" sz="2750" dirty="0"/>
          </a:p>
        </p:txBody>
      </p:sp>
      <p:sp>
        <p:nvSpPr>
          <p:cNvPr id="32" name="Shape 30"/>
          <p:cNvSpPr/>
          <p:nvPr/>
        </p:nvSpPr>
        <p:spPr>
          <a:xfrm>
            <a:off x="12506087" y="4841200"/>
            <a:ext cx="38100" cy="850583"/>
          </a:xfrm>
          <a:prstGeom prst="roundRect">
            <a:avLst>
              <a:gd name="adj" fmla="val 111628"/>
            </a:avLst>
          </a:prstGeom>
          <a:solidFill>
            <a:srgbClr val="D6D0D0"/>
          </a:solidFill>
          <a:ln/>
        </p:spPr>
        <p:txBody>
          <a:bodyPr/>
          <a:lstStyle/>
          <a:p>
            <a:endParaRPr lang="en-PK"/>
          </a:p>
        </p:txBody>
      </p:sp>
      <p:sp>
        <p:nvSpPr>
          <p:cNvPr id="33" name="Shape 31"/>
          <p:cNvSpPr/>
          <p:nvPr/>
        </p:nvSpPr>
        <p:spPr>
          <a:xfrm>
            <a:off x="12206168" y="4522232"/>
            <a:ext cx="637937" cy="637937"/>
          </a:xfrm>
          <a:prstGeom prst="roundRect">
            <a:avLst>
              <a:gd name="adj" fmla="val 6667"/>
            </a:avLst>
          </a:prstGeom>
          <a:solidFill>
            <a:srgbClr val="F0EAEA"/>
          </a:solidFill>
          <a:ln/>
        </p:spPr>
        <p:txBody>
          <a:bodyPr/>
          <a:lstStyle/>
          <a:p>
            <a:endParaRPr lang="en-PK"/>
          </a:p>
        </p:txBody>
      </p:sp>
      <p:sp>
        <p:nvSpPr>
          <p:cNvPr id="34" name="Text 32"/>
          <p:cNvSpPr/>
          <p:nvPr/>
        </p:nvSpPr>
        <p:spPr>
          <a:xfrm>
            <a:off x="12312491" y="4575393"/>
            <a:ext cx="425291" cy="531614"/>
          </a:xfrm>
          <a:prstGeom prst="rect">
            <a:avLst/>
          </a:prstGeom>
          <a:noFill/>
          <a:ln/>
        </p:spPr>
        <p:txBody>
          <a:bodyPr wrap="none" lIns="0" tIns="0" rIns="0" bIns="0" rtlCol="0" anchor="t"/>
          <a:lstStyle/>
          <a:p>
            <a:pPr marL="0" indent="0" algn="ctr">
              <a:lnSpc>
                <a:spcPts val="3300"/>
              </a:lnSpc>
              <a:buNone/>
            </a:pPr>
            <a:r>
              <a:rPr lang="en-US" sz="3300" dirty="0">
                <a:solidFill>
                  <a:srgbClr val="61615C"/>
                </a:solidFill>
                <a:latin typeface="Tomorrow Semi Bold" pitchFamily="34" charset="0"/>
                <a:ea typeface="Tomorrow Semi Bold" pitchFamily="34" charset="-122"/>
                <a:cs typeface="Tomorrow Semi Bold" pitchFamily="34" charset="-120"/>
              </a:rPr>
              <a:t>8</a:t>
            </a:r>
            <a:endParaRPr lang="en-US" sz="3300" dirty="0"/>
          </a:p>
        </p:txBody>
      </p:sp>
      <p:sp>
        <p:nvSpPr>
          <p:cNvPr id="35" name="Text 33"/>
          <p:cNvSpPr/>
          <p:nvPr/>
        </p:nvSpPr>
        <p:spPr>
          <a:xfrm>
            <a:off x="11497270" y="5975271"/>
            <a:ext cx="2055733" cy="443032"/>
          </a:xfrm>
          <a:prstGeom prst="rect">
            <a:avLst/>
          </a:prstGeom>
          <a:noFill/>
          <a:ln/>
        </p:spPr>
        <p:txBody>
          <a:bodyPr wrap="none" lIns="0" tIns="0" rIns="0" bIns="0" rtlCol="0" anchor="t"/>
          <a:lstStyle/>
          <a:p>
            <a:pPr marL="0" indent="0" algn="ctr">
              <a:lnSpc>
                <a:spcPts val="3450"/>
              </a:lnSpc>
              <a:buNone/>
            </a:pPr>
            <a:r>
              <a:rPr lang="en-US" sz="2750" dirty="0">
                <a:solidFill>
                  <a:srgbClr val="61615C"/>
                </a:solidFill>
                <a:latin typeface="Tomorrow Semi Bold" pitchFamily="34" charset="0"/>
                <a:ea typeface="Tomorrow Semi Bold" pitchFamily="34" charset="-122"/>
                <a:cs typeface="Tomorrow Semi Bold" pitchFamily="34" charset="-120"/>
              </a:rPr>
              <a:t>Thank You</a:t>
            </a:r>
            <a:endParaRPr lang="en-US" sz="2750" dirty="0"/>
          </a:p>
        </p:txBody>
      </p:sp>
      <p:sp>
        <p:nvSpPr>
          <p:cNvPr id="36" name="Text 34"/>
          <p:cNvSpPr/>
          <p:nvPr/>
        </p:nvSpPr>
        <p:spPr>
          <a:xfrm>
            <a:off x="11497270" y="6588323"/>
            <a:ext cx="2055733" cy="453509"/>
          </a:xfrm>
          <a:prstGeom prst="rect">
            <a:avLst/>
          </a:prstGeom>
          <a:noFill/>
          <a:ln/>
        </p:spPr>
        <p:txBody>
          <a:bodyPr wrap="none" lIns="0" tIns="0" rIns="0" bIns="0" rtlCol="0" anchor="t"/>
          <a:lstStyle/>
          <a:p>
            <a:pPr marL="0" indent="0" algn="ctr">
              <a:lnSpc>
                <a:spcPts val="3550"/>
              </a:lnSpc>
              <a:buNone/>
            </a:pPr>
            <a:endParaRPr lang="en-US" sz="2200" dirty="0"/>
          </a:p>
        </p:txBody>
      </p:sp>
      <p:sp>
        <p:nvSpPr>
          <p:cNvPr id="37" name="Rounded Rectangle 36">
            <a:extLst>
              <a:ext uri="{FF2B5EF4-FFF2-40B4-BE49-F238E27FC236}">
                <a16:creationId xmlns:a16="http://schemas.microsoft.com/office/drawing/2014/main" id="{366DA09C-FCF6-A285-C1B3-CE09F5919539}"/>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6048" y="0"/>
            <a:ext cx="14614352" cy="8229600"/>
          </a:xfrm>
          <a:prstGeom prst="rect">
            <a:avLst/>
          </a:prstGeom>
          <a:solidFill>
            <a:srgbClr val="FCFCFC">
              <a:alpha val="85000"/>
            </a:srgbClr>
          </a:solidFill>
          <a:ln/>
        </p:spPr>
        <p:txBody>
          <a:bodyPr/>
          <a:lstStyle/>
          <a:p>
            <a:endParaRPr lang="en-PK"/>
          </a:p>
        </p:txBody>
      </p:sp>
      <p:sp>
        <p:nvSpPr>
          <p:cNvPr id="3" name="Text 1"/>
          <p:cNvSpPr/>
          <p:nvPr/>
        </p:nvSpPr>
        <p:spPr>
          <a:xfrm>
            <a:off x="608409" y="597456"/>
            <a:ext cx="7799308" cy="441365"/>
          </a:xfrm>
          <a:prstGeom prst="rect">
            <a:avLst/>
          </a:prstGeom>
          <a:noFill/>
          <a:ln/>
        </p:spPr>
        <p:txBody>
          <a:bodyPr wrap="none" lIns="0" tIns="0" rIns="0" bIns="0" rtlCol="0" anchor="t"/>
          <a:lstStyle/>
          <a:p>
            <a:pPr marL="0" indent="0" algn="l">
              <a:lnSpc>
                <a:spcPts val="3450"/>
              </a:lnSpc>
              <a:buNone/>
            </a:pPr>
            <a:r>
              <a:rPr lang="en-US" sz="2750" dirty="0">
                <a:solidFill>
                  <a:srgbClr val="1D1D1B"/>
                </a:solidFill>
                <a:latin typeface="Tomorrow Semi Bold" pitchFamily="34" charset="0"/>
                <a:ea typeface="Tomorrow Semi Bold" pitchFamily="34" charset="-122"/>
                <a:cs typeface="Tomorrow Semi Bold" pitchFamily="34" charset="-120"/>
              </a:rPr>
              <a:t>The Evolving Landscape of Network Threats</a:t>
            </a:r>
            <a:endParaRPr lang="en-US" sz="2750" dirty="0"/>
          </a:p>
        </p:txBody>
      </p:sp>
      <p:sp>
        <p:nvSpPr>
          <p:cNvPr id="4" name="Text 2"/>
          <p:cNvSpPr/>
          <p:nvPr/>
        </p:nvSpPr>
        <p:spPr>
          <a:xfrm>
            <a:off x="608409" y="1095256"/>
            <a:ext cx="2945963" cy="264676"/>
          </a:xfrm>
          <a:prstGeom prst="rect">
            <a:avLst/>
          </a:prstGeom>
          <a:noFill/>
          <a:ln/>
        </p:spPr>
        <p:txBody>
          <a:bodyPr wrap="none" lIns="0" tIns="0" rIns="0" bIns="0" rtlCol="0" anchor="t"/>
          <a:lstStyle/>
          <a:p>
            <a:pPr marL="0" indent="0" algn="l">
              <a:lnSpc>
                <a:spcPts val="2050"/>
              </a:lnSpc>
              <a:buNone/>
            </a:pPr>
            <a:r>
              <a:rPr lang="en-US" sz="1650" dirty="0">
                <a:solidFill>
                  <a:srgbClr val="1D1D1B"/>
                </a:solidFill>
                <a:latin typeface="Tomorrow Semi Bold" pitchFamily="34" charset="0"/>
                <a:ea typeface="Tomorrow Semi Bold" pitchFamily="34" charset="-122"/>
                <a:cs typeface="Tomorrow Semi Bold" pitchFamily="34" charset="-120"/>
              </a:rPr>
              <a:t>Traditional NMS Limitations</a:t>
            </a:r>
            <a:endParaRPr lang="en-US" sz="1650" dirty="0"/>
          </a:p>
        </p:txBody>
      </p:sp>
      <p:sp>
        <p:nvSpPr>
          <p:cNvPr id="5" name="Shape 3"/>
          <p:cNvSpPr/>
          <p:nvPr/>
        </p:nvSpPr>
        <p:spPr>
          <a:xfrm>
            <a:off x="608409" y="1783556"/>
            <a:ext cx="4376976" cy="1492329"/>
          </a:xfrm>
          <a:prstGeom prst="roundRect">
            <a:avLst>
              <a:gd name="adj" fmla="val 4902"/>
            </a:avLst>
          </a:prstGeom>
          <a:solidFill>
            <a:srgbClr val="FCFCFC"/>
          </a:solidFill>
          <a:ln/>
        </p:spPr>
        <p:txBody>
          <a:bodyPr/>
          <a:lstStyle/>
          <a:p>
            <a:endParaRPr lang="en-PK"/>
          </a:p>
        </p:txBody>
      </p:sp>
      <p:sp>
        <p:nvSpPr>
          <p:cNvPr id="6" name="Shape 4"/>
          <p:cNvSpPr/>
          <p:nvPr/>
        </p:nvSpPr>
        <p:spPr>
          <a:xfrm>
            <a:off x="608409" y="1768316"/>
            <a:ext cx="4376976" cy="60960"/>
          </a:xfrm>
          <a:prstGeom prst="roundRect">
            <a:avLst>
              <a:gd name="adj" fmla="val 34754"/>
            </a:avLst>
          </a:prstGeom>
          <a:solidFill>
            <a:srgbClr val="1D1D1B"/>
          </a:solidFill>
          <a:ln/>
        </p:spPr>
        <p:txBody>
          <a:bodyPr/>
          <a:lstStyle/>
          <a:p>
            <a:endParaRPr lang="en-PK"/>
          </a:p>
        </p:txBody>
      </p:sp>
      <p:sp>
        <p:nvSpPr>
          <p:cNvPr id="7" name="Shape 5"/>
          <p:cNvSpPr/>
          <p:nvPr/>
        </p:nvSpPr>
        <p:spPr>
          <a:xfrm>
            <a:off x="2585085" y="1571744"/>
            <a:ext cx="423624" cy="423624"/>
          </a:xfrm>
          <a:prstGeom prst="roundRect">
            <a:avLst>
              <a:gd name="adj" fmla="val 215852"/>
            </a:avLst>
          </a:prstGeom>
          <a:solidFill>
            <a:srgbClr val="1D1D1B"/>
          </a:solidFill>
          <a:ln/>
        </p:spPr>
        <p:txBody>
          <a:bodyPr/>
          <a:lstStyle/>
          <a:p>
            <a:endParaRPr lang="en-PK"/>
          </a:p>
        </p:txBody>
      </p:sp>
      <p:sp>
        <p:nvSpPr>
          <p:cNvPr id="8" name="Text 6"/>
          <p:cNvSpPr/>
          <p:nvPr/>
        </p:nvSpPr>
        <p:spPr>
          <a:xfrm>
            <a:off x="2712125" y="1677591"/>
            <a:ext cx="169426" cy="211812"/>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Tomorrow Semi Bold" pitchFamily="34" charset="0"/>
                <a:ea typeface="Tomorrow Semi Bold" pitchFamily="34" charset="-122"/>
                <a:cs typeface="Tomorrow Semi Bold" pitchFamily="34" charset="-120"/>
              </a:rPr>
              <a:t>1</a:t>
            </a:r>
            <a:endParaRPr lang="en-US" sz="1300" dirty="0"/>
          </a:p>
        </p:txBody>
      </p:sp>
      <p:sp>
        <p:nvSpPr>
          <p:cNvPr id="9" name="Text 7"/>
          <p:cNvSpPr/>
          <p:nvPr/>
        </p:nvSpPr>
        <p:spPr>
          <a:xfrm>
            <a:off x="764858" y="2136577"/>
            <a:ext cx="1944410" cy="220623"/>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Rule-Based Detection</a:t>
            </a:r>
            <a:endParaRPr lang="en-US" sz="1350" dirty="0"/>
          </a:p>
        </p:txBody>
      </p:sp>
      <p:sp>
        <p:nvSpPr>
          <p:cNvPr id="10" name="Text 8"/>
          <p:cNvSpPr/>
          <p:nvPr/>
        </p:nvSpPr>
        <p:spPr>
          <a:xfrm>
            <a:off x="764858" y="2441853"/>
            <a:ext cx="4064079" cy="677585"/>
          </a:xfrm>
          <a:prstGeom prst="rect">
            <a:avLst/>
          </a:prstGeom>
          <a:noFill/>
          <a:ln/>
        </p:spPr>
        <p:txBody>
          <a:bodyPr wrap="square" lIns="0" tIns="0" rIns="0" bIns="0" rtlCol="0" anchor="t"/>
          <a:lstStyle/>
          <a:p>
            <a:pPr marL="0" indent="0" algn="l">
              <a:lnSpc>
                <a:spcPts val="1750"/>
              </a:lnSpc>
              <a:buNone/>
            </a:pPr>
            <a:r>
              <a:rPr lang="en-US" sz="1100" dirty="0">
                <a:solidFill>
                  <a:srgbClr val="61615C"/>
                </a:solidFill>
                <a:latin typeface="Tomorrow" pitchFamily="34" charset="0"/>
                <a:ea typeface="Tomorrow" pitchFamily="34" charset="-122"/>
                <a:cs typeface="Tomorrow" pitchFamily="34" charset="-120"/>
              </a:rPr>
              <a:t>Relies on known patterns and pre-defined thresholds, making it ineffective against novel attacks (zero-day) and polymorphic malware.</a:t>
            </a:r>
            <a:endParaRPr lang="en-US" sz="1100" dirty="0"/>
          </a:p>
        </p:txBody>
      </p:sp>
      <p:sp>
        <p:nvSpPr>
          <p:cNvPr id="11" name="Shape 9"/>
          <p:cNvSpPr/>
          <p:nvPr/>
        </p:nvSpPr>
        <p:spPr>
          <a:xfrm>
            <a:off x="5126593" y="1783556"/>
            <a:ext cx="4377095" cy="1492329"/>
          </a:xfrm>
          <a:prstGeom prst="roundRect">
            <a:avLst>
              <a:gd name="adj" fmla="val 4902"/>
            </a:avLst>
          </a:prstGeom>
          <a:solidFill>
            <a:srgbClr val="FCFCFC"/>
          </a:solidFill>
          <a:ln/>
        </p:spPr>
        <p:txBody>
          <a:bodyPr/>
          <a:lstStyle/>
          <a:p>
            <a:endParaRPr lang="en-PK"/>
          </a:p>
        </p:txBody>
      </p:sp>
      <p:sp>
        <p:nvSpPr>
          <p:cNvPr id="12" name="Shape 10"/>
          <p:cNvSpPr/>
          <p:nvPr/>
        </p:nvSpPr>
        <p:spPr>
          <a:xfrm>
            <a:off x="5126593" y="1768316"/>
            <a:ext cx="4377095" cy="60960"/>
          </a:xfrm>
          <a:prstGeom prst="roundRect">
            <a:avLst>
              <a:gd name="adj" fmla="val 34754"/>
            </a:avLst>
          </a:prstGeom>
          <a:solidFill>
            <a:srgbClr val="1D1D1B"/>
          </a:solidFill>
          <a:ln/>
        </p:spPr>
        <p:txBody>
          <a:bodyPr/>
          <a:lstStyle/>
          <a:p>
            <a:endParaRPr lang="en-PK"/>
          </a:p>
        </p:txBody>
      </p:sp>
      <p:sp>
        <p:nvSpPr>
          <p:cNvPr id="13" name="Shape 11"/>
          <p:cNvSpPr/>
          <p:nvPr/>
        </p:nvSpPr>
        <p:spPr>
          <a:xfrm>
            <a:off x="7103269" y="1571744"/>
            <a:ext cx="423624" cy="423624"/>
          </a:xfrm>
          <a:prstGeom prst="roundRect">
            <a:avLst>
              <a:gd name="adj" fmla="val 215852"/>
            </a:avLst>
          </a:prstGeom>
          <a:solidFill>
            <a:srgbClr val="1D1D1B"/>
          </a:solidFill>
          <a:ln/>
        </p:spPr>
        <p:txBody>
          <a:bodyPr/>
          <a:lstStyle/>
          <a:p>
            <a:endParaRPr lang="en-PK"/>
          </a:p>
        </p:txBody>
      </p:sp>
      <p:sp>
        <p:nvSpPr>
          <p:cNvPr id="14" name="Text 12"/>
          <p:cNvSpPr/>
          <p:nvPr/>
        </p:nvSpPr>
        <p:spPr>
          <a:xfrm>
            <a:off x="7230308" y="1677591"/>
            <a:ext cx="169426" cy="211812"/>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Tomorrow Semi Bold" pitchFamily="34" charset="0"/>
                <a:ea typeface="Tomorrow Semi Bold" pitchFamily="34" charset="-122"/>
                <a:cs typeface="Tomorrow Semi Bold" pitchFamily="34" charset="-120"/>
              </a:rPr>
              <a:t>2</a:t>
            </a:r>
            <a:endParaRPr lang="en-US" sz="1300" dirty="0"/>
          </a:p>
        </p:txBody>
      </p:sp>
      <p:sp>
        <p:nvSpPr>
          <p:cNvPr id="15" name="Text 13"/>
          <p:cNvSpPr/>
          <p:nvPr/>
        </p:nvSpPr>
        <p:spPr>
          <a:xfrm>
            <a:off x="5283041" y="2136577"/>
            <a:ext cx="1765459" cy="220623"/>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Alert Fatigue</a:t>
            </a:r>
            <a:endParaRPr lang="en-US" sz="1350" dirty="0"/>
          </a:p>
        </p:txBody>
      </p:sp>
      <p:sp>
        <p:nvSpPr>
          <p:cNvPr id="16" name="Text 14"/>
          <p:cNvSpPr/>
          <p:nvPr/>
        </p:nvSpPr>
        <p:spPr>
          <a:xfrm>
            <a:off x="5283041" y="2441853"/>
            <a:ext cx="4064198" cy="451723"/>
          </a:xfrm>
          <a:prstGeom prst="rect">
            <a:avLst/>
          </a:prstGeom>
          <a:noFill/>
          <a:ln/>
        </p:spPr>
        <p:txBody>
          <a:bodyPr wrap="square" lIns="0" tIns="0" rIns="0" bIns="0" rtlCol="0" anchor="t"/>
          <a:lstStyle/>
          <a:p>
            <a:pPr marL="0" indent="0" algn="l">
              <a:lnSpc>
                <a:spcPts val="1750"/>
              </a:lnSpc>
              <a:buNone/>
            </a:pPr>
            <a:r>
              <a:rPr lang="en-US" sz="1100" dirty="0">
                <a:solidFill>
                  <a:srgbClr val="61615C"/>
                </a:solidFill>
                <a:latin typeface="Tomorrow" pitchFamily="34" charset="0"/>
                <a:ea typeface="Tomorrow" pitchFamily="34" charset="-122"/>
                <a:cs typeface="Tomorrow" pitchFamily="34" charset="-120"/>
              </a:rPr>
              <a:t>Static thresholds often lead to too many false positives, overwhelming security teams.</a:t>
            </a:r>
            <a:endParaRPr lang="en-US" sz="1100" dirty="0"/>
          </a:p>
        </p:txBody>
      </p:sp>
      <p:sp>
        <p:nvSpPr>
          <p:cNvPr id="17" name="Shape 15"/>
          <p:cNvSpPr/>
          <p:nvPr/>
        </p:nvSpPr>
        <p:spPr>
          <a:xfrm>
            <a:off x="9644896" y="1783556"/>
            <a:ext cx="4377095" cy="1492329"/>
          </a:xfrm>
          <a:prstGeom prst="roundRect">
            <a:avLst>
              <a:gd name="adj" fmla="val 4902"/>
            </a:avLst>
          </a:prstGeom>
          <a:solidFill>
            <a:srgbClr val="FCFCFC"/>
          </a:solidFill>
          <a:ln/>
        </p:spPr>
        <p:txBody>
          <a:bodyPr/>
          <a:lstStyle/>
          <a:p>
            <a:endParaRPr lang="en-PK"/>
          </a:p>
        </p:txBody>
      </p:sp>
      <p:sp>
        <p:nvSpPr>
          <p:cNvPr id="18" name="Shape 16"/>
          <p:cNvSpPr/>
          <p:nvPr/>
        </p:nvSpPr>
        <p:spPr>
          <a:xfrm>
            <a:off x="9644896" y="1768316"/>
            <a:ext cx="4377095" cy="60960"/>
          </a:xfrm>
          <a:prstGeom prst="roundRect">
            <a:avLst>
              <a:gd name="adj" fmla="val 34754"/>
            </a:avLst>
          </a:prstGeom>
          <a:solidFill>
            <a:srgbClr val="1D1D1B"/>
          </a:solidFill>
          <a:ln/>
        </p:spPr>
        <p:txBody>
          <a:bodyPr/>
          <a:lstStyle/>
          <a:p>
            <a:endParaRPr lang="en-PK"/>
          </a:p>
        </p:txBody>
      </p:sp>
      <p:sp>
        <p:nvSpPr>
          <p:cNvPr id="19" name="Shape 17"/>
          <p:cNvSpPr/>
          <p:nvPr/>
        </p:nvSpPr>
        <p:spPr>
          <a:xfrm>
            <a:off x="11621572" y="1571744"/>
            <a:ext cx="423624" cy="423624"/>
          </a:xfrm>
          <a:prstGeom prst="roundRect">
            <a:avLst>
              <a:gd name="adj" fmla="val 215852"/>
            </a:avLst>
          </a:prstGeom>
          <a:solidFill>
            <a:srgbClr val="1D1D1B"/>
          </a:solidFill>
          <a:ln/>
        </p:spPr>
        <p:txBody>
          <a:bodyPr/>
          <a:lstStyle/>
          <a:p>
            <a:endParaRPr lang="en-PK"/>
          </a:p>
        </p:txBody>
      </p:sp>
      <p:sp>
        <p:nvSpPr>
          <p:cNvPr id="20" name="Text 18"/>
          <p:cNvSpPr/>
          <p:nvPr/>
        </p:nvSpPr>
        <p:spPr>
          <a:xfrm>
            <a:off x="11748611" y="1677591"/>
            <a:ext cx="169426" cy="211812"/>
          </a:xfrm>
          <a:prstGeom prst="rect">
            <a:avLst/>
          </a:prstGeom>
          <a:noFill/>
          <a:ln/>
        </p:spPr>
        <p:txBody>
          <a:bodyPr wrap="none" lIns="0" tIns="0" rIns="0" bIns="0" rtlCol="0" anchor="t"/>
          <a:lstStyle/>
          <a:p>
            <a:pPr marL="0" indent="0" algn="l">
              <a:lnSpc>
                <a:spcPts val="2100"/>
              </a:lnSpc>
              <a:buNone/>
            </a:pPr>
            <a:r>
              <a:rPr lang="en-US" sz="1300" dirty="0">
                <a:solidFill>
                  <a:srgbClr val="FFFFFF"/>
                </a:solidFill>
                <a:latin typeface="Tomorrow Semi Bold" pitchFamily="34" charset="0"/>
                <a:ea typeface="Tomorrow Semi Bold" pitchFamily="34" charset="-122"/>
                <a:cs typeface="Tomorrow Semi Bold" pitchFamily="34" charset="-120"/>
              </a:rPr>
              <a:t>3</a:t>
            </a:r>
            <a:endParaRPr lang="en-US" sz="1300" dirty="0"/>
          </a:p>
        </p:txBody>
      </p:sp>
      <p:sp>
        <p:nvSpPr>
          <p:cNvPr id="21" name="Text 19"/>
          <p:cNvSpPr/>
          <p:nvPr/>
        </p:nvSpPr>
        <p:spPr>
          <a:xfrm>
            <a:off x="9801344" y="2136577"/>
            <a:ext cx="1765459" cy="220623"/>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Encrypted Traffic</a:t>
            </a:r>
            <a:endParaRPr lang="en-US" sz="1350" dirty="0"/>
          </a:p>
        </p:txBody>
      </p:sp>
      <p:sp>
        <p:nvSpPr>
          <p:cNvPr id="22" name="Text 20"/>
          <p:cNvSpPr/>
          <p:nvPr/>
        </p:nvSpPr>
        <p:spPr>
          <a:xfrm>
            <a:off x="9801344" y="2441853"/>
            <a:ext cx="4064198" cy="451723"/>
          </a:xfrm>
          <a:prstGeom prst="rect">
            <a:avLst/>
          </a:prstGeom>
          <a:noFill/>
          <a:ln/>
        </p:spPr>
        <p:txBody>
          <a:bodyPr wrap="square" lIns="0" tIns="0" rIns="0" bIns="0" rtlCol="0" anchor="t"/>
          <a:lstStyle/>
          <a:p>
            <a:pPr marL="0" indent="0" algn="l">
              <a:lnSpc>
                <a:spcPts val="1750"/>
              </a:lnSpc>
              <a:buNone/>
            </a:pPr>
            <a:r>
              <a:rPr lang="en-US" sz="1100" dirty="0">
                <a:solidFill>
                  <a:srgbClr val="61615C"/>
                </a:solidFill>
                <a:latin typeface="Tomorrow" pitchFamily="34" charset="0"/>
                <a:ea typeface="Tomorrow" pitchFamily="34" charset="-122"/>
                <a:cs typeface="Tomorrow" pitchFamily="34" charset="-120"/>
              </a:rPr>
              <a:t>Traditional Deep Packet Inspection (DPI) struggles with encrypted traffic, creating a "dark space" for threats.</a:t>
            </a:r>
            <a:endParaRPr lang="en-US" sz="1100" dirty="0"/>
          </a:p>
        </p:txBody>
      </p:sp>
      <p:sp>
        <p:nvSpPr>
          <p:cNvPr id="23" name="Text 21"/>
          <p:cNvSpPr/>
          <p:nvPr/>
        </p:nvSpPr>
        <p:spPr>
          <a:xfrm>
            <a:off x="608409" y="3487698"/>
            <a:ext cx="2681883" cy="264676"/>
          </a:xfrm>
          <a:prstGeom prst="rect">
            <a:avLst/>
          </a:prstGeom>
          <a:noFill/>
          <a:ln/>
        </p:spPr>
        <p:txBody>
          <a:bodyPr wrap="none" lIns="0" tIns="0" rIns="0" bIns="0" rtlCol="0" anchor="t"/>
          <a:lstStyle/>
          <a:p>
            <a:pPr marL="0" indent="0" algn="l">
              <a:lnSpc>
                <a:spcPts val="2050"/>
              </a:lnSpc>
              <a:buNone/>
            </a:pPr>
            <a:r>
              <a:rPr lang="en-US" sz="1650" dirty="0">
                <a:solidFill>
                  <a:srgbClr val="1D1D1B"/>
                </a:solidFill>
                <a:latin typeface="Tomorrow Semi Bold" pitchFamily="34" charset="0"/>
                <a:ea typeface="Tomorrow Semi Bold" pitchFamily="34" charset="-122"/>
                <a:cs typeface="Tomorrow Semi Bold" pitchFamily="34" charset="-120"/>
              </a:rPr>
              <a:t>The Need for Intelligence</a:t>
            </a:r>
            <a:endParaRPr lang="en-US" sz="1650" dirty="0"/>
          </a:p>
        </p:txBody>
      </p:sp>
      <p:sp>
        <p:nvSpPr>
          <p:cNvPr id="24" name="Text 22"/>
          <p:cNvSpPr/>
          <p:nvPr/>
        </p:nvSpPr>
        <p:spPr>
          <a:xfrm>
            <a:off x="608409" y="3964186"/>
            <a:ext cx="13413581" cy="451723"/>
          </a:xfrm>
          <a:prstGeom prst="rect">
            <a:avLst/>
          </a:prstGeom>
          <a:noFill/>
          <a:ln/>
        </p:spPr>
        <p:txBody>
          <a:bodyPr wrap="square" lIns="0" tIns="0" rIns="0" bIns="0" rtlCol="0" anchor="t"/>
          <a:lstStyle/>
          <a:p>
            <a:pPr marL="0" indent="0" algn="l">
              <a:lnSpc>
                <a:spcPts val="1750"/>
              </a:lnSpc>
              <a:buNone/>
            </a:pPr>
            <a:r>
              <a:rPr lang="en-US" sz="1100" dirty="0">
                <a:solidFill>
                  <a:srgbClr val="61615C"/>
                </a:solidFill>
                <a:latin typeface="Tomorrow" pitchFamily="34" charset="0"/>
                <a:ea typeface="Tomorrow" pitchFamily="34" charset="-122"/>
                <a:cs typeface="Tomorrow" pitchFamily="34" charset="-120"/>
              </a:rPr>
              <a:t>We require adaptive security systems that learn and proactively identify anomalies before they become full-blown incidents. Network traffic generates vast amounts of data, which is perfect for Machine Learning.</a:t>
            </a:r>
            <a:endParaRPr lang="en-US" sz="1100" dirty="0"/>
          </a:p>
        </p:txBody>
      </p:sp>
      <p:pic>
        <p:nvPicPr>
          <p:cNvPr id="25" name="Image 0" descr="preencoded.png"/>
          <p:cNvPicPr>
            <a:picLocks noChangeAspect="1"/>
          </p:cNvPicPr>
          <p:nvPr/>
        </p:nvPicPr>
        <p:blipFill>
          <a:blip r:embed="rId3"/>
          <a:stretch>
            <a:fillRect/>
          </a:stretch>
        </p:blipFill>
        <p:spPr>
          <a:xfrm>
            <a:off x="2955727" y="4574738"/>
            <a:ext cx="8718828" cy="3465195"/>
          </a:xfrm>
          <a:prstGeom prst="rect">
            <a:avLst/>
          </a:prstGeom>
        </p:spPr>
      </p:pic>
      <p:sp>
        <p:nvSpPr>
          <p:cNvPr id="26" name="Text 23"/>
          <p:cNvSpPr/>
          <p:nvPr/>
        </p:nvSpPr>
        <p:spPr>
          <a:xfrm>
            <a:off x="3595399" y="6915246"/>
            <a:ext cx="1913023" cy="239128"/>
          </a:xfrm>
          <a:prstGeom prst="rect">
            <a:avLst/>
          </a:prstGeom>
          <a:noFill/>
          <a:ln/>
        </p:spPr>
        <p:txBody>
          <a:bodyPr wrap="none" lIns="0" tIns="0" rIns="0" bIns="0" rtlCol="0" anchor="t"/>
          <a:lstStyle/>
          <a:p>
            <a:pPr marL="0" indent="0" algn="r">
              <a:lnSpc>
                <a:spcPts val="1650"/>
              </a:lnSpc>
              <a:buNone/>
            </a:pPr>
            <a:r>
              <a:rPr lang="en-US" sz="1350" dirty="0">
                <a:solidFill>
                  <a:srgbClr val="1D1D1B"/>
                </a:solidFill>
                <a:latin typeface="Tomorrow Semi Bold" pitchFamily="34" charset="0"/>
                <a:ea typeface="Tomorrow Semi Bold" pitchFamily="34" charset="-122"/>
                <a:cs typeface="Tomorrow Semi Bold" pitchFamily="34" charset="-120"/>
              </a:rPr>
              <a:t>Detection Engine</a:t>
            </a:r>
            <a:endParaRPr lang="en-US" sz="1350" dirty="0"/>
          </a:p>
        </p:txBody>
      </p:sp>
      <p:sp>
        <p:nvSpPr>
          <p:cNvPr id="27" name="Text 24"/>
          <p:cNvSpPr/>
          <p:nvPr/>
        </p:nvSpPr>
        <p:spPr>
          <a:xfrm>
            <a:off x="3161780" y="7222393"/>
            <a:ext cx="2346641" cy="382605"/>
          </a:xfrm>
          <a:prstGeom prst="rect">
            <a:avLst/>
          </a:prstGeom>
          <a:noFill/>
          <a:ln/>
        </p:spPr>
        <p:txBody>
          <a:bodyPr wrap="square" lIns="0" tIns="0" rIns="0" bIns="0" rtlCol="0" anchor="t"/>
          <a:lstStyle/>
          <a:p>
            <a:pPr marL="0" indent="0" algn="r">
              <a:lnSpc>
                <a:spcPts val="1350"/>
              </a:lnSpc>
              <a:buNone/>
            </a:pPr>
            <a:r>
              <a:rPr lang="en-US" sz="1050" dirty="0">
                <a:solidFill>
                  <a:srgbClr val="61615C"/>
                </a:solidFill>
                <a:latin typeface="Tomorrow" pitchFamily="34" charset="0"/>
                <a:ea typeface="Tomorrow" pitchFamily="34" charset="-122"/>
                <a:cs typeface="Tomorrow" pitchFamily="34" charset="-120"/>
              </a:rPr>
              <a:t>Firewall performing signature checks</a:t>
            </a:r>
            <a:endParaRPr lang="en-US" sz="1050" dirty="0"/>
          </a:p>
        </p:txBody>
      </p:sp>
      <p:sp>
        <p:nvSpPr>
          <p:cNvPr id="28" name="Text 25"/>
          <p:cNvSpPr/>
          <p:nvPr/>
        </p:nvSpPr>
        <p:spPr>
          <a:xfrm>
            <a:off x="9181293" y="6223901"/>
            <a:ext cx="2287126" cy="478255"/>
          </a:xfrm>
          <a:prstGeom prst="rect">
            <a:avLst/>
          </a:prstGeom>
          <a:noFill/>
          <a:ln/>
        </p:spPr>
        <p:txBody>
          <a:bodyPr wrap="square" lIns="0" tIns="0" rIns="0" bIns="0" rtlCol="0" anchor="t"/>
          <a:lstStyle/>
          <a:p>
            <a:pPr marL="0" indent="0" algn="l">
              <a:lnSpc>
                <a:spcPts val="1650"/>
              </a:lnSpc>
              <a:buNone/>
            </a:pPr>
            <a:r>
              <a:rPr lang="en-US" sz="1350" dirty="0">
                <a:solidFill>
                  <a:srgbClr val="1D1D1B"/>
                </a:solidFill>
                <a:latin typeface="Tomorrow Semi Bold" pitchFamily="34" charset="0"/>
                <a:ea typeface="Tomorrow Semi Bold" pitchFamily="34" charset="-122"/>
                <a:cs typeface="Tomorrow Semi Bold" pitchFamily="34" charset="-120"/>
              </a:rPr>
              <a:t>Known Attack Signatures</a:t>
            </a:r>
            <a:endParaRPr lang="en-US" sz="1350" dirty="0"/>
          </a:p>
        </p:txBody>
      </p:sp>
      <p:sp>
        <p:nvSpPr>
          <p:cNvPr id="29" name="Text 26"/>
          <p:cNvSpPr/>
          <p:nvPr/>
        </p:nvSpPr>
        <p:spPr>
          <a:xfrm>
            <a:off x="9181293" y="6770176"/>
            <a:ext cx="2287126" cy="191302"/>
          </a:xfrm>
          <a:prstGeom prst="rect">
            <a:avLst/>
          </a:prstGeom>
          <a:noFill/>
          <a:ln/>
        </p:spPr>
        <p:txBody>
          <a:bodyPr wrap="none" lIns="0" tIns="0" rIns="0" bIns="0" rtlCol="0" anchor="t"/>
          <a:lstStyle/>
          <a:p>
            <a:pPr marL="0" indent="0" algn="l">
              <a:lnSpc>
                <a:spcPts val="1350"/>
              </a:lnSpc>
              <a:buNone/>
            </a:pPr>
            <a:r>
              <a:rPr lang="en-US" sz="1050" dirty="0">
                <a:solidFill>
                  <a:srgbClr val="61615C"/>
                </a:solidFill>
                <a:latin typeface="Tomorrow" pitchFamily="34" charset="0"/>
                <a:ea typeface="Tomorrow" pitchFamily="34" charset="-122"/>
                <a:cs typeface="Tomorrow" pitchFamily="34" charset="-120"/>
              </a:rPr>
              <a:t>Database of identified threats</a:t>
            </a:r>
            <a:endParaRPr lang="en-US" sz="1050" dirty="0"/>
          </a:p>
        </p:txBody>
      </p:sp>
      <p:sp>
        <p:nvSpPr>
          <p:cNvPr id="30" name="Text 27"/>
          <p:cNvSpPr/>
          <p:nvPr/>
        </p:nvSpPr>
        <p:spPr>
          <a:xfrm>
            <a:off x="3595266" y="5735549"/>
            <a:ext cx="1913023" cy="239128"/>
          </a:xfrm>
          <a:prstGeom prst="rect">
            <a:avLst/>
          </a:prstGeom>
          <a:noFill/>
          <a:ln/>
        </p:spPr>
        <p:txBody>
          <a:bodyPr wrap="none" lIns="0" tIns="0" rIns="0" bIns="0" rtlCol="0" anchor="t"/>
          <a:lstStyle/>
          <a:p>
            <a:pPr marL="0" indent="0" algn="r">
              <a:lnSpc>
                <a:spcPts val="1650"/>
              </a:lnSpc>
              <a:buNone/>
            </a:pPr>
            <a:r>
              <a:rPr lang="en-US" sz="1350" dirty="0">
                <a:solidFill>
                  <a:srgbClr val="1D1D1B"/>
                </a:solidFill>
                <a:latin typeface="Tomorrow Semi Bold" pitchFamily="34" charset="0"/>
                <a:ea typeface="Tomorrow Semi Bold" pitchFamily="34" charset="-122"/>
                <a:cs typeface="Tomorrow Semi Bold" pitchFamily="34" charset="-120"/>
              </a:rPr>
              <a:t>Zero-Day Attack</a:t>
            </a:r>
            <a:endParaRPr lang="en-US" sz="1350" dirty="0"/>
          </a:p>
        </p:txBody>
      </p:sp>
      <p:sp>
        <p:nvSpPr>
          <p:cNvPr id="31" name="Text 28"/>
          <p:cNvSpPr/>
          <p:nvPr/>
        </p:nvSpPr>
        <p:spPr>
          <a:xfrm>
            <a:off x="3161648" y="6042695"/>
            <a:ext cx="2346641" cy="191302"/>
          </a:xfrm>
          <a:prstGeom prst="rect">
            <a:avLst/>
          </a:prstGeom>
          <a:noFill/>
          <a:ln/>
        </p:spPr>
        <p:txBody>
          <a:bodyPr wrap="none" lIns="0" tIns="0" rIns="0" bIns="0" rtlCol="0" anchor="t"/>
          <a:lstStyle/>
          <a:p>
            <a:pPr marL="0" indent="0" algn="r">
              <a:lnSpc>
                <a:spcPts val="1350"/>
              </a:lnSpc>
              <a:buNone/>
            </a:pPr>
            <a:r>
              <a:rPr lang="en-US" sz="1050" dirty="0">
                <a:solidFill>
                  <a:srgbClr val="61615C"/>
                </a:solidFill>
                <a:latin typeface="Tomorrow" pitchFamily="34" charset="0"/>
                <a:ea typeface="Tomorrow" pitchFamily="34" charset="-122"/>
                <a:cs typeface="Tomorrow" pitchFamily="34" charset="-120"/>
              </a:rPr>
              <a:t>Novel threat not recognized</a:t>
            </a:r>
            <a:endParaRPr lang="en-US" sz="1050" dirty="0"/>
          </a:p>
        </p:txBody>
      </p:sp>
      <p:sp>
        <p:nvSpPr>
          <p:cNvPr id="32" name="Text 29"/>
          <p:cNvSpPr/>
          <p:nvPr/>
        </p:nvSpPr>
        <p:spPr>
          <a:xfrm>
            <a:off x="9181293" y="5017103"/>
            <a:ext cx="1913023" cy="239128"/>
          </a:xfrm>
          <a:prstGeom prst="rect">
            <a:avLst/>
          </a:prstGeom>
          <a:noFill/>
          <a:ln/>
        </p:spPr>
        <p:txBody>
          <a:bodyPr wrap="none" lIns="0" tIns="0" rIns="0" bIns="0" rtlCol="0" anchor="t"/>
          <a:lstStyle/>
          <a:p>
            <a:pPr marL="0" indent="0" algn="l">
              <a:lnSpc>
                <a:spcPts val="1650"/>
              </a:lnSpc>
              <a:buNone/>
            </a:pPr>
            <a:r>
              <a:rPr lang="en-US" sz="1350" dirty="0">
                <a:solidFill>
                  <a:srgbClr val="1D1D1B"/>
                </a:solidFill>
                <a:latin typeface="Tomorrow Semi Bold" pitchFamily="34" charset="0"/>
                <a:ea typeface="Tomorrow Semi Bold" pitchFamily="34" charset="-122"/>
                <a:cs typeface="Tomorrow Semi Bold" pitchFamily="34" charset="-120"/>
              </a:rPr>
              <a:t>Encrypted Traffic</a:t>
            </a:r>
            <a:endParaRPr lang="en-US" sz="1350" dirty="0"/>
          </a:p>
        </p:txBody>
      </p:sp>
      <p:sp>
        <p:nvSpPr>
          <p:cNvPr id="33" name="Text 30"/>
          <p:cNvSpPr/>
          <p:nvPr/>
        </p:nvSpPr>
        <p:spPr>
          <a:xfrm>
            <a:off x="9181293" y="5324249"/>
            <a:ext cx="2287126" cy="191302"/>
          </a:xfrm>
          <a:prstGeom prst="rect">
            <a:avLst/>
          </a:prstGeom>
          <a:noFill/>
          <a:ln/>
        </p:spPr>
        <p:txBody>
          <a:bodyPr wrap="none" lIns="0" tIns="0" rIns="0" bIns="0" rtlCol="0" anchor="t"/>
          <a:lstStyle/>
          <a:p>
            <a:pPr marL="0" indent="0" algn="l">
              <a:lnSpc>
                <a:spcPts val="1350"/>
              </a:lnSpc>
              <a:buNone/>
            </a:pPr>
            <a:r>
              <a:rPr lang="en-US" sz="1050" dirty="0">
                <a:solidFill>
                  <a:srgbClr val="61615C"/>
                </a:solidFill>
                <a:latin typeface="Tomorrow" pitchFamily="34" charset="0"/>
                <a:ea typeface="Tomorrow" pitchFamily="34" charset="-122"/>
                <a:cs typeface="Tomorrow" pitchFamily="34" charset="-120"/>
              </a:rPr>
              <a:t>Obscured payloads evade rules</a:t>
            </a:r>
            <a:endParaRPr lang="en-US" sz="1050" dirty="0"/>
          </a:p>
        </p:txBody>
      </p:sp>
      <p:sp>
        <p:nvSpPr>
          <p:cNvPr id="34" name="Rounded Rectangle 33">
            <a:extLst>
              <a:ext uri="{FF2B5EF4-FFF2-40B4-BE49-F238E27FC236}">
                <a16:creationId xmlns:a16="http://schemas.microsoft.com/office/drawing/2014/main" id="{B73FDF8A-9000-7F3E-005B-7E52B5699838}"/>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4349" y="495300"/>
            <a:ext cx="7790498" cy="365879"/>
          </a:xfrm>
          <a:prstGeom prst="rect">
            <a:avLst/>
          </a:prstGeom>
          <a:noFill/>
          <a:ln/>
        </p:spPr>
        <p:txBody>
          <a:bodyPr wrap="none" lIns="0" tIns="0" rIns="0" bIns="0" rtlCol="0" anchor="t"/>
          <a:lstStyle/>
          <a:p>
            <a:pPr marL="0" indent="0" algn="l">
              <a:lnSpc>
                <a:spcPts val="2850"/>
              </a:lnSpc>
              <a:buNone/>
            </a:pPr>
            <a:r>
              <a:rPr lang="en-US" sz="2300" dirty="0">
                <a:solidFill>
                  <a:srgbClr val="1D1D1B"/>
                </a:solidFill>
                <a:latin typeface="Tomorrow Semi Bold" pitchFamily="34" charset="0"/>
                <a:ea typeface="Tomorrow Semi Bold" pitchFamily="34" charset="-122"/>
                <a:cs typeface="Tomorrow Semi Bold" pitchFamily="34" charset="-120"/>
              </a:rPr>
              <a:t>Introduction to Machine Learning &amp; Neural Networks</a:t>
            </a:r>
            <a:endParaRPr lang="en-US" sz="2300" dirty="0"/>
          </a:p>
        </p:txBody>
      </p:sp>
      <p:sp>
        <p:nvSpPr>
          <p:cNvPr id="3" name="Shape 1"/>
          <p:cNvSpPr/>
          <p:nvPr/>
        </p:nvSpPr>
        <p:spPr>
          <a:xfrm>
            <a:off x="504349" y="1270873"/>
            <a:ext cx="6752273" cy="1615440"/>
          </a:xfrm>
          <a:prstGeom prst="roundRect">
            <a:avLst>
              <a:gd name="adj" fmla="val 4528"/>
            </a:avLst>
          </a:prstGeom>
          <a:solidFill>
            <a:srgbClr val="FCFCFC"/>
          </a:solidFill>
          <a:ln/>
        </p:spPr>
        <p:txBody>
          <a:bodyPr/>
          <a:lstStyle/>
          <a:p>
            <a:endParaRPr lang="en-PK"/>
          </a:p>
        </p:txBody>
      </p:sp>
      <p:sp>
        <p:nvSpPr>
          <p:cNvPr id="4" name="Shape 2"/>
          <p:cNvSpPr/>
          <p:nvPr/>
        </p:nvSpPr>
        <p:spPr>
          <a:xfrm>
            <a:off x="504349" y="1255633"/>
            <a:ext cx="6752273" cy="60960"/>
          </a:xfrm>
          <a:prstGeom prst="roundRect">
            <a:avLst>
              <a:gd name="adj" fmla="val 28812"/>
            </a:avLst>
          </a:prstGeom>
          <a:solidFill>
            <a:srgbClr val="1D1D1B"/>
          </a:solidFill>
          <a:ln/>
        </p:spPr>
        <p:txBody>
          <a:bodyPr/>
          <a:lstStyle/>
          <a:p>
            <a:endParaRPr lang="en-PK"/>
          </a:p>
        </p:txBody>
      </p:sp>
      <p:sp>
        <p:nvSpPr>
          <p:cNvPr id="5" name="Shape 3"/>
          <p:cNvSpPr/>
          <p:nvPr/>
        </p:nvSpPr>
        <p:spPr>
          <a:xfrm>
            <a:off x="3704868" y="1095256"/>
            <a:ext cx="351234" cy="351234"/>
          </a:xfrm>
          <a:prstGeom prst="roundRect">
            <a:avLst>
              <a:gd name="adj" fmla="val 260339"/>
            </a:avLst>
          </a:prstGeom>
          <a:solidFill>
            <a:srgbClr val="1D1D1B"/>
          </a:solidFill>
          <a:ln/>
        </p:spPr>
        <p:txBody>
          <a:bodyPr/>
          <a:lstStyle/>
          <a:p>
            <a:endParaRPr lang="en-PK"/>
          </a:p>
        </p:txBody>
      </p:sp>
      <p:sp>
        <p:nvSpPr>
          <p:cNvPr id="6" name="Text 4"/>
          <p:cNvSpPr/>
          <p:nvPr/>
        </p:nvSpPr>
        <p:spPr>
          <a:xfrm>
            <a:off x="3810238" y="1183005"/>
            <a:ext cx="140494" cy="175617"/>
          </a:xfrm>
          <a:prstGeom prst="rect">
            <a:avLst/>
          </a:prstGeom>
          <a:noFill/>
          <a:ln/>
        </p:spPr>
        <p:txBody>
          <a:bodyPr wrap="none" lIns="0" tIns="0" rIns="0" bIns="0" rtlCol="0" anchor="t"/>
          <a:lstStyle/>
          <a:p>
            <a:pPr marL="0" indent="0" algn="l">
              <a:lnSpc>
                <a:spcPts val="1750"/>
              </a:lnSpc>
              <a:buNone/>
            </a:pPr>
            <a:r>
              <a:rPr lang="en-US" sz="1100" dirty="0">
                <a:solidFill>
                  <a:srgbClr val="FFFFFF"/>
                </a:solidFill>
                <a:latin typeface="Tomorrow Semi Bold" pitchFamily="34" charset="0"/>
                <a:ea typeface="Tomorrow Semi Bold" pitchFamily="34" charset="-122"/>
                <a:cs typeface="Tomorrow Semi Bold" pitchFamily="34" charset="-120"/>
              </a:rPr>
              <a:t>1</a:t>
            </a:r>
            <a:endParaRPr lang="en-US" sz="1100" dirty="0"/>
          </a:p>
        </p:txBody>
      </p:sp>
      <p:sp>
        <p:nvSpPr>
          <p:cNvPr id="7" name="Text 5"/>
          <p:cNvSpPr/>
          <p:nvPr/>
        </p:nvSpPr>
        <p:spPr>
          <a:xfrm>
            <a:off x="636627" y="1563529"/>
            <a:ext cx="2831663" cy="219432"/>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What is Machine Learning (ML)?</a:t>
            </a:r>
            <a:endParaRPr lang="en-US" sz="1350" dirty="0"/>
          </a:p>
        </p:txBody>
      </p:sp>
      <p:sp>
        <p:nvSpPr>
          <p:cNvPr id="8" name="Text 6"/>
          <p:cNvSpPr/>
          <p:nvPr/>
        </p:nvSpPr>
        <p:spPr>
          <a:xfrm>
            <a:off x="636627" y="1853208"/>
            <a:ext cx="6487716" cy="187166"/>
          </a:xfrm>
          <a:prstGeom prst="rect">
            <a:avLst/>
          </a:prstGeom>
          <a:noFill/>
          <a:ln/>
        </p:spPr>
        <p:txBody>
          <a:bodyPr wrap="none" lIns="0" tIns="0" rIns="0" bIns="0" rtlCol="0" anchor="t"/>
          <a:lstStyle/>
          <a:p>
            <a:pPr marL="0" indent="0" algn="l">
              <a:lnSpc>
                <a:spcPts val="1450"/>
              </a:lnSpc>
              <a:buNone/>
            </a:pPr>
            <a:r>
              <a:rPr lang="en-US" sz="900" dirty="0">
                <a:solidFill>
                  <a:srgbClr val="61615C"/>
                </a:solidFill>
                <a:latin typeface="Tomorrow" pitchFamily="34" charset="0"/>
                <a:ea typeface="Tomorrow" pitchFamily="34" charset="-122"/>
                <a:cs typeface="Tomorrow" pitchFamily="34" charset="-120"/>
              </a:rPr>
              <a:t>Algorithms that learn patterns from data to make predictions or decisions without explicit programming.</a:t>
            </a:r>
            <a:endParaRPr lang="en-US" sz="900" dirty="0"/>
          </a:p>
        </p:txBody>
      </p:sp>
      <p:sp>
        <p:nvSpPr>
          <p:cNvPr id="9" name="Text 7"/>
          <p:cNvSpPr/>
          <p:nvPr/>
        </p:nvSpPr>
        <p:spPr>
          <a:xfrm>
            <a:off x="636627" y="2110621"/>
            <a:ext cx="6487716" cy="187166"/>
          </a:xfrm>
          <a:prstGeom prst="rect">
            <a:avLst/>
          </a:prstGeom>
          <a:noFill/>
          <a:ln/>
        </p:spPr>
        <p:txBody>
          <a:bodyPr wrap="none" lIns="0" tIns="0" rIns="0" bIns="0" rtlCol="0" anchor="t"/>
          <a:lstStyle/>
          <a:p>
            <a:pPr marL="342900" indent="-342900" algn="l">
              <a:lnSpc>
                <a:spcPts val="1450"/>
              </a:lnSpc>
              <a:buSzPct val="100000"/>
              <a:buChar char="•"/>
            </a:pPr>
            <a:r>
              <a:rPr lang="en-US" sz="900" b="1" dirty="0">
                <a:solidFill>
                  <a:srgbClr val="61615C"/>
                </a:solidFill>
                <a:latin typeface="Tomorrow" pitchFamily="34" charset="0"/>
                <a:ea typeface="Tomorrow" pitchFamily="34" charset="-122"/>
                <a:cs typeface="Tomorrow" pitchFamily="34" charset="-120"/>
              </a:rPr>
              <a:t>Supervised Learning:</a:t>
            </a:r>
            <a:r>
              <a:rPr lang="en-US" sz="900" dirty="0">
                <a:solidFill>
                  <a:srgbClr val="61615C"/>
                </a:solidFill>
                <a:latin typeface="Tomorrow" pitchFamily="34" charset="0"/>
                <a:ea typeface="Tomorrow" pitchFamily="34" charset="-122"/>
                <a:cs typeface="Tomorrow" pitchFamily="34" charset="-120"/>
              </a:rPr>
              <a:t> Learns from labeled data (e.g., "attack" vs. "normal").</a:t>
            </a:r>
            <a:endParaRPr lang="en-US" sz="900" dirty="0"/>
          </a:p>
        </p:txBody>
      </p:sp>
      <p:sp>
        <p:nvSpPr>
          <p:cNvPr id="10" name="Text 8"/>
          <p:cNvSpPr/>
          <p:nvPr/>
        </p:nvSpPr>
        <p:spPr>
          <a:xfrm>
            <a:off x="636627" y="2338745"/>
            <a:ext cx="6487716" cy="187166"/>
          </a:xfrm>
          <a:prstGeom prst="rect">
            <a:avLst/>
          </a:prstGeom>
          <a:noFill/>
          <a:ln/>
        </p:spPr>
        <p:txBody>
          <a:bodyPr wrap="none" lIns="0" tIns="0" rIns="0" bIns="0" rtlCol="0" anchor="t"/>
          <a:lstStyle/>
          <a:p>
            <a:pPr marL="342900" indent="-342900" algn="l">
              <a:lnSpc>
                <a:spcPts val="1450"/>
              </a:lnSpc>
              <a:buSzPct val="100000"/>
              <a:buChar char="•"/>
            </a:pPr>
            <a:r>
              <a:rPr lang="en-US" sz="900" b="1" dirty="0">
                <a:solidFill>
                  <a:srgbClr val="61615C"/>
                </a:solidFill>
                <a:latin typeface="Tomorrow" pitchFamily="34" charset="0"/>
                <a:ea typeface="Tomorrow" pitchFamily="34" charset="-122"/>
                <a:cs typeface="Tomorrow" pitchFamily="34" charset="-120"/>
              </a:rPr>
              <a:t>Unsupervised Learning:</a:t>
            </a:r>
            <a:r>
              <a:rPr lang="en-US" sz="900" dirty="0">
                <a:solidFill>
                  <a:srgbClr val="61615C"/>
                </a:solidFill>
                <a:latin typeface="Tomorrow" pitchFamily="34" charset="0"/>
                <a:ea typeface="Tomorrow" pitchFamily="34" charset="-122"/>
                <a:cs typeface="Tomorrow" pitchFamily="34" charset="-120"/>
              </a:rPr>
              <a:t> Finds hidden patterns in unlabeled data (e.g., clustering traffic types).</a:t>
            </a:r>
            <a:endParaRPr lang="en-US" sz="900" dirty="0"/>
          </a:p>
        </p:txBody>
      </p:sp>
      <p:sp>
        <p:nvSpPr>
          <p:cNvPr id="11" name="Shape 9"/>
          <p:cNvSpPr/>
          <p:nvPr/>
        </p:nvSpPr>
        <p:spPr>
          <a:xfrm>
            <a:off x="7373660" y="1270873"/>
            <a:ext cx="6752392" cy="1615440"/>
          </a:xfrm>
          <a:prstGeom prst="roundRect">
            <a:avLst>
              <a:gd name="adj" fmla="val 4528"/>
            </a:avLst>
          </a:prstGeom>
          <a:solidFill>
            <a:srgbClr val="FCFCFC"/>
          </a:solidFill>
          <a:ln/>
        </p:spPr>
        <p:txBody>
          <a:bodyPr/>
          <a:lstStyle/>
          <a:p>
            <a:endParaRPr lang="en-PK"/>
          </a:p>
        </p:txBody>
      </p:sp>
      <p:sp>
        <p:nvSpPr>
          <p:cNvPr id="12" name="Shape 10"/>
          <p:cNvSpPr/>
          <p:nvPr/>
        </p:nvSpPr>
        <p:spPr>
          <a:xfrm>
            <a:off x="7373660" y="1255633"/>
            <a:ext cx="6752392" cy="60960"/>
          </a:xfrm>
          <a:prstGeom prst="roundRect">
            <a:avLst>
              <a:gd name="adj" fmla="val 28812"/>
            </a:avLst>
          </a:prstGeom>
          <a:solidFill>
            <a:srgbClr val="1D1D1B"/>
          </a:solidFill>
          <a:ln/>
        </p:spPr>
        <p:txBody>
          <a:bodyPr/>
          <a:lstStyle/>
          <a:p>
            <a:endParaRPr lang="en-PK"/>
          </a:p>
        </p:txBody>
      </p:sp>
      <p:sp>
        <p:nvSpPr>
          <p:cNvPr id="13" name="Shape 11"/>
          <p:cNvSpPr/>
          <p:nvPr/>
        </p:nvSpPr>
        <p:spPr>
          <a:xfrm>
            <a:off x="10574179" y="1095256"/>
            <a:ext cx="351234" cy="351234"/>
          </a:xfrm>
          <a:prstGeom prst="roundRect">
            <a:avLst>
              <a:gd name="adj" fmla="val 260339"/>
            </a:avLst>
          </a:prstGeom>
          <a:solidFill>
            <a:srgbClr val="1D1D1B"/>
          </a:solidFill>
          <a:ln/>
        </p:spPr>
        <p:txBody>
          <a:bodyPr/>
          <a:lstStyle/>
          <a:p>
            <a:endParaRPr lang="en-PK"/>
          </a:p>
        </p:txBody>
      </p:sp>
      <p:sp>
        <p:nvSpPr>
          <p:cNvPr id="14" name="Text 12"/>
          <p:cNvSpPr/>
          <p:nvPr/>
        </p:nvSpPr>
        <p:spPr>
          <a:xfrm>
            <a:off x="10679549" y="1183005"/>
            <a:ext cx="140494" cy="175617"/>
          </a:xfrm>
          <a:prstGeom prst="rect">
            <a:avLst/>
          </a:prstGeom>
          <a:noFill/>
          <a:ln/>
        </p:spPr>
        <p:txBody>
          <a:bodyPr wrap="none" lIns="0" tIns="0" rIns="0" bIns="0" rtlCol="0" anchor="t"/>
          <a:lstStyle/>
          <a:p>
            <a:pPr marL="0" indent="0" algn="l">
              <a:lnSpc>
                <a:spcPts val="1750"/>
              </a:lnSpc>
              <a:buNone/>
            </a:pPr>
            <a:r>
              <a:rPr lang="en-US" sz="1100" dirty="0">
                <a:solidFill>
                  <a:srgbClr val="FFFFFF"/>
                </a:solidFill>
                <a:latin typeface="Tomorrow Semi Bold" pitchFamily="34" charset="0"/>
                <a:ea typeface="Tomorrow Semi Bold" pitchFamily="34" charset="-122"/>
                <a:cs typeface="Tomorrow Semi Bold" pitchFamily="34" charset="-120"/>
              </a:rPr>
              <a:t>2</a:t>
            </a:r>
            <a:endParaRPr lang="en-US" sz="1100" dirty="0"/>
          </a:p>
        </p:txBody>
      </p:sp>
      <p:sp>
        <p:nvSpPr>
          <p:cNvPr id="15" name="Text 13"/>
          <p:cNvSpPr/>
          <p:nvPr/>
        </p:nvSpPr>
        <p:spPr>
          <a:xfrm>
            <a:off x="7505938" y="1563529"/>
            <a:ext cx="2457569" cy="219432"/>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Basic Neural Networks (NN)</a:t>
            </a:r>
            <a:endParaRPr lang="en-US" sz="1350" dirty="0"/>
          </a:p>
        </p:txBody>
      </p:sp>
      <p:sp>
        <p:nvSpPr>
          <p:cNvPr id="16" name="Text 14"/>
          <p:cNvSpPr/>
          <p:nvPr/>
        </p:nvSpPr>
        <p:spPr>
          <a:xfrm>
            <a:off x="7505938" y="1853208"/>
            <a:ext cx="6487835" cy="187166"/>
          </a:xfrm>
          <a:prstGeom prst="rect">
            <a:avLst/>
          </a:prstGeom>
          <a:noFill/>
          <a:ln/>
        </p:spPr>
        <p:txBody>
          <a:bodyPr wrap="none" lIns="0" tIns="0" rIns="0" bIns="0" rtlCol="0" anchor="t"/>
          <a:lstStyle/>
          <a:p>
            <a:pPr marL="0" indent="0" algn="l">
              <a:lnSpc>
                <a:spcPts val="1450"/>
              </a:lnSpc>
              <a:buNone/>
            </a:pPr>
            <a:r>
              <a:rPr lang="en-US" sz="900" dirty="0">
                <a:solidFill>
                  <a:srgbClr val="61615C"/>
                </a:solidFill>
                <a:latin typeface="Tomorrow" pitchFamily="34" charset="0"/>
                <a:ea typeface="Tomorrow" pitchFamily="34" charset="-122"/>
                <a:cs typeface="Tomorrow" pitchFamily="34" charset="-120"/>
              </a:rPr>
              <a:t>Loosely based on the human brain, NNs are composed of interconnected "neurons" organized in layers.</a:t>
            </a:r>
            <a:endParaRPr lang="en-US" sz="900" dirty="0"/>
          </a:p>
        </p:txBody>
      </p:sp>
      <p:sp>
        <p:nvSpPr>
          <p:cNvPr id="17" name="Text 15"/>
          <p:cNvSpPr/>
          <p:nvPr/>
        </p:nvSpPr>
        <p:spPr>
          <a:xfrm>
            <a:off x="7505938" y="2110621"/>
            <a:ext cx="6487835" cy="187166"/>
          </a:xfrm>
          <a:prstGeom prst="rect">
            <a:avLst/>
          </a:prstGeom>
          <a:noFill/>
          <a:ln/>
        </p:spPr>
        <p:txBody>
          <a:bodyPr wrap="none" lIns="0" tIns="0" rIns="0" bIns="0" rtlCol="0" anchor="t"/>
          <a:lstStyle/>
          <a:p>
            <a:pPr marL="342900" indent="-342900" algn="l">
              <a:lnSpc>
                <a:spcPts val="1450"/>
              </a:lnSpc>
              <a:buSzPct val="100000"/>
              <a:buChar char="•"/>
            </a:pPr>
            <a:r>
              <a:rPr lang="en-US" sz="900" b="1" dirty="0">
                <a:solidFill>
                  <a:srgbClr val="61615C"/>
                </a:solidFill>
                <a:latin typeface="Tomorrow" pitchFamily="34" charset="0"/>
                <a:ea typeface="Tomorrow" pitchFamily="34" charset="-122"/>
                <a:cs typeface="Tomorrow" pitchFamily="34" charset="-120"/>
              </a:rPr>
              <a:t>Input Layer:</a:t>
            </a:r>
            <a:r>
              <a:rPr lang="en-US" sz="900" dirty="0">
                <a:solidFill>
                  <a:srgbClr val="61615C"/>
                </a:solidFill>
                <a:latin typeface="Tomorrow" pitchFamily="34" charset="0"/>
                <a:ea typeface="Tomorrow" pitchFamily="34" charset="-122"/>
                <a:cs typeface="Tomorrow" pitchFamily="34" charset="-120"/>
              </a:rPr>
              <a:t> Receives raw data.</a:t>
            </a:r>
            <a:endParaRPr lang="en-US" sz="900" dirty="0"/>
          </a:p>
        </p:txBody>
      </p:sp>
      <p:sp>
        <p:nvSpPr>
          <p:cNvPr id="18" name="Text 16"/>
          <p:cNvSpPr/>
          <p:nvPr/>
        </p:nvSpPr>
        <p:spPr>
          <a:xfrm>
            <a:off x="7505938" y="2338745"/>
            <a:ext cx="6487835" cy="187166"/>
          </a:xfrm>
          <a:prstGeom prst="rect">
            <a:avLst/>
          </a:prstGeom>
          <a:noFill/>
          <a:ln/>
        </p:spPr>
        <p:txBody>
          <a:bodyPr wrap="none" lIns="0" tIns="0" rIns="0" bIns="0" rtlCol="0" anchor="t"/>
          <a:lstStyle/>
          <a:p>
            <a:pPr marL="342900" indent="-342900" algn="l">
              <a:lnSpc>
                <a:spcPts val="1450"/>
              </a:lnSpc>
              <a:buSzPct val="100000"/>
              <a:buChar char="•"/>
            </a:pPr>
            <a:r>
              <a:rPr lang="en-US" sz="900" b="1" dirty="0">
                <a:solidFill>
                  <a:srgbClr val="61615C"/>
                </a:solidFill>
                <a:latin typeface="Tomorrow" pitchFamily="34" charset="0"/>
                <a:ea typeface="Tomorrow" pitchFamily="34" charset="-122"/>
                <a:cs typeface="Tomorrow" pitchFamily="34" charset="-120"/>
              </a:rPr>
              <a:t>Hidden Layers:</a:t>
            </a:r>
            <a:r>
              <a:rPr lang="en-US" sz="900" dirty="0">
                <a:solidFill>
                  <a:srgbClr val="61615C"/>
                </a:solidFill>
                <a:latin typeface="Tomorrow" pitchFamily="34" charset="0"/>
                <a:ea typeface="Tomorrow" pitchFamily="34" charset="-122"/>
                <a:cs typeface="Tomorrow" pitchFamily="34" charset="-120"/>
              </a:rPr>
              <a:t> Perform computations and learn complex features.</a:t>
            </a:r>
            <a:endParaRPr lang="en-US" sz="900" dirty="0"/>
          </a:p>
        </p:txBody>
      </p:sp>
      <p:sp>
        <p:nvSpPr>
          <p:cNvPr id="19" name="Text 17"/>
          <p:cNvSpPr/>
          <p:nvPr/>
        </p:nvSpPr>
        <p:spPr>
          <a:xfrm>
            <a:off x="7505938" y="2566868"/>
            <a:ext cx="6487835" cy="187166"/>
          </a:xfrm>
          <a:prstGeom prst="rect">
            <a:avLst/>
          </a:prstGeom>
          <a:noFill/>
          <a:ln/>
        </p:spPr>
        <p:txBody>
          <a:bodyPr wrap="none" lIns="0" tIns="0" rIns="0" bIns="0" rtlCol="0" anchor="t"/>
          <a:lstStyle/>
          <a:p>
            <a:pPr marL="342900" indent="-342900" algn="l">
              <a:lnSpc>
                <a:spcPts val="1450"/>
              </a:lnSpc>
              <a:buSzPct val="100000"/>
              <a:buChar char="•"/>
            </a:pPr>
            <a:r>
              <a:rPr lang="en-US" sz="900" b="1" dirty="0">
                <a:solidFill>
                  <a:srgbClr val="61615C"/>
                </a:solidFill>
                <a:latin typeface="Tomorrow" pitchFamily="34" charset="0"/>
                <a:ea typeface="Tomorrow" pitchFamily="34" charset="-122"/>
                <a:cs typeface="Tomorrow" pitchFamily="34" charset="-120"/>
              </a:rPr>
              <a:t>Output Layer:</a:t>
            </a:r>
            <a:r>
              <a:rPr lang="en-US" sz="900" dirty="0">
                <a:solidFill>
                  <a:srgbClr val="61615C"/>
                </a:solidFill>
                <a:latin typeface="Tomorrow" pitchFamily="34" charset="0"/>
                <a:ea typeface="Tomorrow" pitchFamily="34" charset="-122"/>
                <a:cs typeface="Tomorrow" pitchFamily="34" charset="-120"/>
              </a:rPr>
              <a:t> Produces the final prediction.</a:t>
            </a:r>
            <a:endParaRPr lang="en-US" sz="900" dirty="0"/>
          </a:p>
        </p:txBody>
      </p:sp>
      <p:pic>
        <p:nvPicPr>
          <p:cNvPr id="20" name="Image 0" descr="preencoded.png"/>
          <p:cNvPicPr>
            <a:picLocks noChangeAspect="1"/>
          </p:cNvPicPr>
          <p:nvPr/>
        </p:nvPicPr>
        <p:blipFill>
          <a:blip r:embed="rId3"/>
          <a:stretch>
            <a:fillRect/>
          </a:stretch>
        </p:blipFill>
        <p:spPr>
          <a:xfrm>
            <a:off x="2888099" y="3017996"/>
            <a:ext cx="8854083" cy="4052054"/>
          </a:xfrm>
          <a:prstGeom prst="rect">
            <a:avLst/>
          </a:prstGeom>
        </p:spPr>
      </p:pic>
      <p:sp>
        <p:nvSpPr>
          <p:cNvPr id="21" name="Text 18"/>
          <p:cNvSpPr/>
          <p:nvPr/>
        </p:nvSpPr>
        <p:spPr>
          <a:xfrm>
            <a:off x="9373764" y="3688804"/>
            <a:ext cx="2158841" cy="391725"/>
          </a:xfrm>
          <a:prstGeom prst="rect">
            <a:avLst/>
          </a:prstGeom>
          <a:noFill/>
          <a:ln/>
        </p:spPr>
        <p:txBody>
          <a:bodyPr wrap="square" lIns="0" tIns="0" rIns="0" bIns="0" rtlCol="0" anchor="t"/>
          <a:lstStyle/>
          <a:p>
            <a:pPr marL="0" indent="0" algn="l">
              <a:lnSpc>
                <a:spcPts val="1350"/>
              </a:lnSpc>
              <a:buNone/>
            </a:pPr>
            <a:r>
              <a:rPr lang="en-US" sz="1050" dirty="0">
                <a:solidFill>
                  <a:srgbClr val="61615C"/>
                </a:solidFill>
                <a:latin typeface="Tomorrow" pitchFamily="34" charset="0"/>
                <a:ea typeface="Tomorrow" pitchFamily="34" charset="-122"/>
                <a:cs typeface="Tomorrow" pitchFamily="34" charset="-120"/>
              </a:rPr>
              <a:t>Output LayerProduces predictions or class scores</a:t>
            </a:r>
            <a:endParaRPr lang="en-US" sz="1050" dirty="0"/>
          </a:p>
        </p:txBody>
      </p:sp>
      <p:sp>
        <p:nvSpPr>
          <p:cNvPr id="22" name="Text 19"/>
          <p:cNvSpPr/>
          <p:nvPr/>
        </p:nvSpPr>
        <p:spPr>
          <a:xfrm>
            <a:off x="3097455" y="4922739"/>
            <a:ext cx="1984741" cy="587588"/>
          </a:xfrm>
          <a:prstGeom prst="rect">
            <a:avLst/>
          </a:prstGeom>
          <a:noFill/>
          <a:ln/>
        </p:spPr>
        <p:txBody>
          <a:bodyPr wrap="square" lIns="0" tIns="0" rIns="0" bIns="0" rtlCol="0" anchor="t"/>
          <a:lstStyle/>
          <a:p>
            <a:pPr marL="0" indent="0" algn="r">
              <a:lnSpc>
                <a:spcPts val="1350"/>
              </a:lnSpc>
              <a:buNone/>
            </a:pPr>
            <a:r>
              <a:rPr lang="en-US" sz="1050" dirty="0">
                <a:solidFill>
                  <a:srgbClr val="61615C"/>
                </a:solidFill>
                <a:latin typeface="Tomorrow" pitchFamily="34" charset="0"/>
                <a:ea typeface="Tomorrow" pitchFamily="34" charset="-122"/>
                <a:cs typeface="Tomorrow" pitchFamily="34" charset="-120"/>
              </a:rPr>
              <a:t>Hidden LayerApplies weighted sums and activations</a:t>
            </a:r>
            <a:endParaRPr lang="en-US" sz="1050" dirty="0"/>
          </a:p>
        </p:txBody>
      </p:sp>
      <p:sp>
        <p:nvSpPr>
          <p:cNvPr id="23" name="Text 20"/>
          <p:cNvSpPr/>
          <p:nvPr/>
        </p:nvSpPr>
        <p:spPr>
          <a:xfrm>
            <a:off x="9373764" y="5708365"/>
            <a:ext cx="2158841" cy="391726"/>
          </a:xfrm>
          <a:prstGeom prst="rect">
            <a:avLst/>
          </a:prstGeom>
          <a:noFill/>
          <a:ln/>
        </p:spPr>
        <p:txBody>
          <a:bodyPr wrap="square" lIns="0" tIns="0" rIns="0" bIns="0" rtlCol="0" anchor="t"/>
          <a:lstStyle/>
          <a:p>
            <a:pPr marL="0" indent="0" algn="l">
              <a:lnSpc>
                <a:spcPts val="1350"/>
              </a:lnSpc>
              <a:buNone/>
            </a:pPr>
            <a:r>
              <a:rPr lang="en-US" sz="1050" dirty="0">
                <a:solidFill>
                  <a:srgbClr val="61615C"/>
                </a:solidFill>
                <a:latin typeface="Tomorrow" pitchFamily="34" charset="0"/>
                <a:ea typeface="Tomorrow" pitchFamily="34" charset="-122"/>
                <a:cs typeface="Tomorrow" pitchFamily="34" charset="-120"/>
              </a:rPr>
              <a:t>Input LayerReceives features from the dataset</a:t>
            </a:r>
            <a:endParaRPr lang="en-US" sz="1050" dirty="0"/>
          </a:p>
        </p:txBody>
      </p:sp>
      <p:sp>
        <p:nvSpPr>
          <p:cNvPr id="24" name="Text 21"/>
          <p:cNvSpPr/>
          <p:nvPr/>
        </p:nvSpPr>
        <p:spPr>
          <a:xfrm>
            <a:off x="609719" y="6841688"/>
            <a:ext cx="3446383" cy="292656"/>
          </a:xfrm>
          <a:prstGeom prst="rect">
            <a:avLst/>
          </a:prstGeom>
          <a:noFill/>
          <a:ln/>
        </p:spPr>
        <p:txBody>
          <a:bodyPr wrap="none" lIns="0" tIns="0" rIns="0" bIns="0" rtlCol="0" anchor="t"/>
          <a:lstStyle/>
          <a:p>
            <a:pPr marL="0" indent="0" algn="l">
              <a:lnSpc>
                <a:spcPts val="2300"/>
              </a:lnSpc>
              <a:buNone/>
            </a:pPr>
            <a:r>
              <a:rPr lang="en-US" sz="1800" dirty="0">
                <a:solidFill>
                  <a:srgbClr val="1D1D1B"/>
                </a:solidFill>
                <a:latin typeface="Tomorrow Semi Bold" pitchFamily="34" charset="0"/>
                <a:ea typeface="Tomorrow Semi Bold" pitchFamily="34" charset="-122"/>
                <a:cs typeface="Tomorrow Semi Bold" pitchFamily="34" charset="-120"/>
              </a:rPr>
              <a:t>Deep Learning: Going Deeper</a:t>
            </a:r>
            <a:endParaRPr lang="en-US" sz="1800" dirty="0"/>
          </a:p>
        </p:txBody>
      </p:sp>
      <p:sp>
        <p:nvSpPr>
          <p:cNvPr id="25" name="Text 22"/>
          <p:cNvSpPr/>
          <p:nvPr/>
        </p:nvSpPr>
        <p:spPr>
          <a:xfrm>
            <a:off x="609719" y="7322468"/>
            <a:ext cx="11478175" cy="581753"/>
          </a:xfrm>
          <a:prstGeom prst="rect">
            <a:avLst/>
          </a:prstGeom>
          <a:noFill/>
          <a:ln/>
        </p:spPr>
        <p:txBody>
          <a:bodyPr wrap="square" lIns="0" tIns="0" rIns="0" bIns="0" rtlCol="0" anchor="t"/>
          <a:lstStyle/>
          <a:p>
            <a:pPr marL="0" indent="0" algn="l">
              <a:lnSpc>
                <a:spcPts val="1450"/>
              </a:lnSpc>
              <a:buNone/>
            </a:pPr>
            <a:r>
              <a:rPr lang="en-US" sz="900" dirty="0">
                <a:solidFill>
                  <a:srgbClr val="61615C"/>
                </a:solidFill>
                <a:latin typeface="Tomorrow" pitchFamily="34" charset="0"/>
                <a:ea typeface="Tomorrow" pitchFamily="34" charset="-122"/>
                <a:cs typeface="Tomorrow" pitchFamily="34" charset="-120"/>
              </a:rPr>
              <a:t>Deep Learning uses Neural Networks with many hidden layers. This power allows the system to learn hierarchical representations of data—simple features in early layers, complex abstractions in deeper layers. This is possible today due to large datasets, powerful GPUs, and improved algorithms.</a:t>
            </a:r>
            <a:endParaRPr lang="en-US" sz="900" dirty="0"/>
          </a:p>
        </p:txBody>
      </p:sp>
      <p:sp>
        <p:nvSpPr>
          <p:cNvPr id="26" name="Shape 23"/>
          <p:cNvSpPr/>
          <p:nvPr/>
        </p:nvSpPr>
        <p:spPr>
          <a:xfrm>
            <a:off x="482819" y="6882883"/>
            <a:ext cx="15240" cy="1149906"/>
          </a:xfrm>
          <a:prstGeom prst="rect">
            <a:avLst/>
          </a:prstGeom>
          <a:solidFill>
            <a:srgbClr val="1D1D1B"/>
          </a:solidFill>
          <a:ln/>
        </p:spPr>
        <p:txBody>
          <a:bodyPr/>
          <a:lstStyle/>
          <a:p>
            <a:endParaRPr lang="en-PK"/>
          </a:p>
        </p:txBody>
      </p:sp>
      <p:sp>
        <p:nvSpPr>
          <p:cNvPr id="28" name="Rounded Rectangle 27">
            <a:extLst>
              <a:ext uri="{FF2B5EF4-FFF2-40B4-BE49-F238E27FC236}">
                <a16:creationId xmlns:a16="http://schemas.microsoft.com/office/drawing/2014/main" id="{871DDFF2-82F6-6AC2-63CF-84F493B40014}"/>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3055" y="633413"/>
            <a:ext cx="8355925" cy="459224"/>
          </a:xfrm>
          <a:prstGeom prst="rect">
            <a:avLst/>
          </a:prstGeom>
          <a:noFill/>
          <a:ln/>
        </p:spPr>
        <p:txBody>
          <a:bodyPr wrap="none" lIns="0" tIns="0" rIns="0" bIns="0" rtlCol="0" anchor="t"/>
          <a:lstStyle/>
          <a:p>
            <a:pPr marL="0" indent="0" algn="l">
              <a:lnSpc>
                <a:spcPts val="3600"/>
              </a:lnSpc>
              <a:buNone/>
            </a:pPr>
            <a:r>
              <a:rPr lang="en-US" sz="2850" dirty="0">
                <a:solidFill>
                  <a:srgbClr val="1D1D1B"/>
                </a:solidFill>
                <a:latin typeface="Tomorrow Semi Bold" pitchFamily="34" charset="0"/>
                <a:ea typeface="Tomorrow Semi Bold" pitchFamily="34" charset="-122"/>
                <a:cs typeface="Tomorrow Semi Bold" pitchFamily="34" charset="-120"/>
              </a:rPr>
              <a:t>CNN Fundamentals: How They "See" Patterns</a:t>
            </a:r>
            <a:endParaRPr lang="en-US" sz="2850" dirty="0"/>
          </a:p>
        </p:txBody>
      </p:sp>
      <p:sp>
        <p:nvSpPr>
          <p:cNvPr id="3" name="Text 1"/>
          <p:cNvSpPr/>
          <p:nvPr/>
        </p:nvSpPr>
        <p:spPr>
          <a:xfrm>
            <a:off x="633055" y="1386483"/>
            <a:ext cx="13364289" cy="470059"/>
          </a:xfrm>
          <a:prstGeom prst="rect">
            <a:avLst/>
          </a:prstGeom>
          <a:noFill/>
          <a:ln/>
        </p:spPr>
        <p:txBody>
          <a:bodyPr wrap="square" lIns="0" tIns="0" rIns="0" bIns="0" rtlCol="0" anchor="t"/>
          <a:lstStyle/>
          <a:p>
            <a:pPr marL="0" indent="0" algn="l">
              <a:lnSpc>
                <a:spcPts val="1850"/>
              </a:lnSpc>
              <a:buNone/>
            </a:pPr>
            <a:r>
              <a:rPr lang="en-US" sz="1150" dirty="0">
                <a:solidFill>
                  <a:srgbClr val="61615C"/>
                </a:solidFill>
                <a:latin typeface="Tomorrow" pitchFamily="34" charset="0"/>
                <a:ea typeface="Tomorrow" pitchFamily="34" charset="-122"/>
                <a:cs typeface="Tomorrow" pitchFamily="34" charset="-120"/>
              </a:rPr>
              <a:t>Convolutional Neural Networks (CNNs) are specialized for structured data. Originally for images, they are powerful for any data with local, spatial relationships, focusing on identifying patterns in local regions regardless of their exact position. CNNs automatically </a:t>
            </a:r>
            <a:r>
              <a:rPr lang="en-US" sz="1150" b="1" dirty="0">
                <a:solidFill>
                  <a:srgbClr val="1D1D1B"/>
                </a:solidFill>
                <a:latin typeface="Tomorrow" pitchFamily="34" charset="0"/>
                <a:ea typeface="Tomorrow" pitchFamily="34" charset="-122"/>
                <a:cs typeface="Tomorrow" pitchFamily="34" charset="-120"/>
              </a:rPr>
              <a:t>learn the best features</a:t>
            </a:r>
            <a:r>
              <a:rPr lang="en-US" sz="1150" dirty="0">
                <a:solidFill>
                  <a:srgbClr val="61615C"/>
                </a:solidFill>
                <a:latin typeface="Tomorrow" pitchFamily="34" charset="0"/>
                <a:ea typeface="Tomorrow" pitchFamily="34" charset="-122"/>
                <a:cs typeface="Tomorrow" pitchFamily="34" charset="-120"/>
              </a:rPr>
              <a:t>, eliminating manual feature engineering.</a:t>
            </a:r>
            <a:endParaRPr lang="en-US" sz="1150" dirty="0"/>
          </a:p>
        </p:txBody>
      </p:sp>
      <p:pic>
        <p:nvPicPr>
          <p:cNvPr id="4" name="Image 0" descr="preencoded.png"/>
          <p:cNvPicPr>
            <a:picLocks noChangeAspect="1"/>
          </p:cNvPicPr>
          <p:nvPr/>
        </p:nvPicPr>
        <p:blipFill>
          <a:blip r:embed="rId3"/>
          <a:stretch>
            <a:fillRect/>
          </a:stretch>
        </p:blipFill>
        <p:spPr>
          <a:xfrm>
            <a:off x="633055" y="2021800"/>
            <a:ext cx="4454723" cy="587812"/>
          </a:xfrm>
          <a:prstGeom prst="rect">
            <a:avLst/>
          </a:prstGeom>
        </p:spPr>
      </p:pic>
      <p:pic>
        <p:nvPicPr>
          <p:cNvPr id="5" name="Image 1" descr="preencoded.png"/>
          <p:cNvPicPr>
            <a:picLocks noChangeAspect="1"/>
          </p:cNvPicPr>
          <p:nvPr/>
        </p:nvPicPr>
        <p:blipFill>
          <a:blip r:embed="rId4"/>
          <a:stretch>
            <a:fillRect/>
          </a:stretch>
        </p:blipFill>
        <p:spPr>
          <a:xfrm>
            <a:off x="779978" y="2756535"/>
            <a:ext cx="2704505" cy="1381958"/>
          </a:xfrm>
          <a:prstGeom prst="rect">
            <a:avLst/>
          </a:prstGeom>
        </p:spPr>
      </p:pic>
      <p:sp>
        <p:nvSpPr>
          <p:cNvPr id="6" name="Text 2"/>
          <p:cNvSpPr/>
          <p:nvPr/>
        </p:nvSpPr>
        <p:spPr>
          <a:xfrm>
            <a:off x="779978" y="4303752"/>
            <a:ext cx="2688074" cy="275630"/>
          </a:xfrm>
          <a:prstGeom prst="rect">
            <a:avLst/>
          </a:prstGeom>
          <a:noFill/>
          <a:ln/>
        </p:spPr>
        <p:txBody>
          <a:bodyPr wrap="none" lIns="0" tIns="0" rIns="0" bIns="0" rtlCol="0" anchor="t"/>
          <a:lstStyle/>
          <a:p>
            <a:pPr marL="0" indent="0" algn="l">
              <a:lnSpc>
                <a:spcPts val="2150"/>
              </a:lnSpc>
              <a:buNone/>
            </a:pPr>
            <a:r>
              <a:rPr lang="en-US" sz="1700" dirty="0">
                <a:solidFill>
                  <a:srgbClr val="61615C"/>
                </a:solidFill>
                <a:latin typeface="Tomorrow Semi Bold" pitchFamily="34" charset="0"/>
                <a:ea typeface="Tomorrow Semi Bold" pitchFamily="34" charset="-122"/>
                <a:cs typeface="Tomorrow Semi Bold" pitchFamily="34" charset="-120"/>
              </a:rPr>
              <a:t>The Convolutional Layer</a:t>
            </a:r>
            <a:endParaRPr lang="en-US" sz="1700" dirty="0"/>
          </a:p>
        </p:txBody>
      </p:sp>
      <p:sp>
        <p:nvSpPr>
          <p:cNvPr id="7" name="Text 3"/>
          <p:cNvSpPr/>
          <p:nvPr/>
        </p:nvSpPr>
        <p:spPr>
          <a:xfrm>
            <a:off x="779978" y="4667488"/>
            <a:ext cx="4160877" cy="1175147"/>
          </a:xfrm>
          <a:prstGeom prst="rect">
            <a:avLst/>
          </a:prstGeom>
          <a:noFill/>
          <a:ln/>
        </p:spPr>
        <p:txBody>
          <a:bodyPr wrap="square" lIns="0" tIns="0" rIns="0" bIns="0" rtlCol="0" anchor="t"/>
          <a:lstStyle/>
          <a:p>
            <a:pPr marL="0" indent="0" algn="l">
              <a:lnSpc>
                <a:spcPts val="1850"/>
              </a:lnSpc>
              <a:buNone/>
            </a:pPr>
            <a:r>
              <a:rPr lang="en-US" sz="1150" dirty="0">
                <a:solidFill>
                  <a:srgbClr val="61615C"/>
                </a:solidFill>
                <a:latin typeface="Tomorrow" pitchFamily="34" charset="0"/>
                <a:ea typeface="Tomorrow" pitchFamily="34" charset="-122"/>
                <a:cs typeface="Tomorrow" pitchFamily="34" charset="-120"/>
              </a:rPr>
              <a:t>Uses small matrices called </a:t>
            </a:r>
            <a:r>
              <a:rPr lang="en-US" sz="1150" b="1" dirty="0">
                <a:solidFill>
                  <a:srgbClr val="61615C"/>
                </a:solidFill>
                <a:latin typeface="Tomorrow" pitchFamily="34" charset="0"/>
                <a:ea typeface="Tomorrow" pitchFamily="34" charset="-122"/>
                <a:cs typeface="Tomorrow" pitchFamily="34" charset="-120"/>
              </a:rPr>
              <a:t>Filters (Kernels)</a:t>
            </a:r>
            <a:r>
              <a:rPr lang="en-US" sz="1150" dirty="0">
                <a:solidFill>
                  <a:srgbClr val="61615C"/>
                </a:solidFill>
                <a:latin typeface="Tomorrow" pitchFamily="34" charset="0"/>
                <a:ea typeface="Tomorrow" pitchFamily="34" charset="-122"/>
                <a:cs typeface="Tomorrow" pitchFamily="34" charset="-120"/>
              </a:rPr>
              <a:t> that slide across the input data, performing a dot product to create a </a:t>
            </a:r>
            <a:r>
              <a:rPr lang="en-US" sz="1150" b="1" dirty="0">
                <a:solidFill>
                  <a:srgbClr val="61615C"/>
                </a:solidFill>
                <a:latin typeface="Tomorrow" pitchFamily="34" charset="0"/>
                <a:ea typeface="Tomorrow" pitchFamily="34" charset="-122"/>
                <a:cs typeface="Tomorrow" pitchFamily="34" charset="-120"/>
              </a:rPr>
              <a:t>Feature Map</a:t>
            </a:r>
            <a:r>
              <a:rPr lang="en-US" sz="1150" dirty="0">
                <a:solidFill>
                  <a:srgbClr val="61615C"/>
                </a:solidFill>
                <a:latin typeface="Tomorrow" pitchFamily="34" charset="0"/>
                <a:ea typeface="Tomorrow" pitchFamily="34" charset="-122"/>
                <a:cs typeface="Tomorrow" pitchFamily="34" charset="-120"/>
              </a:rPr>
              <a:t>. This process highlights where the filter's pattern was detected, and weight sharing makes it robust to pattern location.</a:t>
            </a:r>
            <a:endParaRPr lang="en-US" sz="1150" dirty="0"/>
          </a:p>
        </p:txBody>
      </p:sp>
      <p:pic>
        <p:nvPicPr>
          <p:cNvPr id="8" name="Image 2" descr="preencoded.png"/>
          <p:cNvPicPr>
            <a:picLocks noChangeAspect="1"/>
          </p:cNvPicPr>
          <p:nvPr/>
        </p:nvPicPr>
        <p:blipFill>
          <a:blip r:embed="rId5"/>
          <a:stretch>
            <a:fillRect/>
          </a:stretch>
        </p:blipFill>
        <p:spPr>
          <a:xfrm>
            <a:off x="5087779" y="2021800"/>
            <a:ext cx="4454723" cy="587812"/>
          </a:xfrm>
          <a:prstGeom prst="rect">
            <a:avLst/>
          </a:prstGeom>
        </p:spPr>
      </p:pic>
      <p:pic>
        <p:nvPicPr>
          <p:cNvPr id="9" name="Image 3" descr="preencoded.png"/>
          <p:cNvPicPr>
            <a:picLocks noChangeAspect="1"/>
          </p:cNvPicPr>
          <p:nvPr/>
        </p:nvPicPr>
        <p:blipFill>
          <a:blip r:embed="rId6"/>
          <a:stretch>
            <a:fillRect/>
          </a:stretch>
        </p:blipFill>
        <p:spPr>
          <a:xfrm>
            <a:off x="5234702" y="2756535"/>
            <a:ext cx="2704505" cy="2199084"/>
          </a:xfrm>
          <a:prstGeom prst="rect">
            <a:avLst/>
          </a:prstGeom>
        </p:spPr>
      </p:pic>
      <p:sp>
        <p:nvSpPr>
          <p:cNvPr id="10" name="Text 4"/>
          <p:cNvSpPr/>
          <p:nvPr/>
        </p:nvSpPr>
        <p:spPr>
          <a:xfrm>
            <a:off x="5234702" y="5120878"/>
            <a:ext cx="2204561" cy="275630"/>
          </a:xfrm>
          <a:prstGeom prst="rect">
            <a:avLst/>
          </a:prstGeom>
          <a:noFill/>
          <a:ln/>
        </p:spPr>
        <p:txBody>
          <a:bodyPr wrap="none" lIns="0" tIns="0" rIns="0" bIns="0" rtlCol="0" anchor="t"/>
          <a:lstStyle/>
          <a:p>
            <a:pPr marL="0" indent="0" algn="l">
              <a:lnSpc>
                <a:spcPts val="2150"/>
              </a:lnSpc>
              <a:buNone/>
            </a:pPr>
            <a:r>
              <a:rPr lang="en-US" sz="1700" dirty="0">
                <a:solidFill>
                  <a:srgbClr val="61615C"/>
                </a:solidFill>
                <a:latin typeface="Tomorrow Semi Bold" pitchFamily="34" charset="0"/>
                <a:ea typeface="Tomorrow Semi Bold" pitchFamily="34" charset="-122"/>
                <a:cs typeface="Tomorrow Semi Bold" pitchFamily="34" charset="-120"/>
              </a:rPr>
              <a:t>The Pooling Layer</a:t>
            </a:r>
            <a:endParaRPr lang="en-US" sz="1700" dirty="0"/>
          </a:p>
        </p:txBody>
      </p:sp>
      <p:sp>
        <p:nvSpPr>
          <p:cNvPr id="11" name="Text 5"/>
          <p:cNvSpPr/>
          <p:nvPr/>
        </p:nvSpPr>
        <p:spPr>
          <a:xfrm>
            <a:off x="5234702" y="5484614"/>
            <a:ext cx="4160877" cy="940118"/>
          </a:xfrm>
          <a:prstGeom prst="rect">
            <a:avLst/>
          </a:prstGeom>
          <a:noFill/>
          <a:ln/>
        </p:spPr>
        <p:txBody>
          <a:bodyPr wrap="square" lIns="0" tIns="0" rIns="0" bIns="0" rtlCol="0" anchor="t"/>
          <a:lstStyle/>
          <a:p>
            <a:pPr marL="0" indent="0" algn="l">
              <a:lnSpc>
                <a:spcPts val="1850"/>
              </a:lnSpc>
              <a:buNone/>
            </a:pPr>
            <a:r>
              <a:rPr lang="en-US" sz="1150" dirty="0">
                <a:solidFill>
                  <a:srgbClr val="61615C"/>
                </a:solidFill>
                <a:latin typeface="Tomorrow" pitchFamily="34" charset="0"/>
                <a:ea typeface="Tomorrow" pitchFamily="34" charset="-122"/>
                <a:cs typeface="Tomorrow" pitchFamily="34" charset="-120"/>
              </a:rPr>
              <a:t>Reduces the spatial size of feature maps (dimensionality reduction). This makes the network more robust to small shifts in the input pattern and helps reduce overfitting. Max Pooling is a common type.</a:t>
            </a:r>
            <a:endParaRPr lang="en-US" sz="1150" dirty="0"/>
          </a:p>
        </p:txBody>
      </p:sp>
      <p:pic>
        <p:nvPicPr>
          <p:cNvPr id="12" name="Image 4" descr="preencoded.png"/>
          <p:cNvPicPr>
            <a:picLocks noChangeAspect="1"/>
          </p:cNvPicPr>
          <p:nvPr/>
        </p:nvPicPr>
        <p:blipFill>
          <a:blip r:embed="rId7"/>
          <a:stretch>
            <a:fillRect/>
          </a:stretch>
        </p:blipFill>
        <p:spPr>
          <a:xfrm>
            <a:off x="9542502" y="2021800"/>
            <a:ext cx="4454723" cy="587812"/>
          </a:xfrm>
          <a:prstGeom prst="rect">
            <a:avLst/>
          </a:prstGeom>
        </p:spPr>
      </p:pic>
      <p:pic>
        <p:nvPicPr>
          <p:cNvPr id="13" name="Image 5" descr="preencoded.png"/>
          <p:cNvPicPr>
            <a:picLocks noChangeAspect="1"/>
          </p:cNvPicPr>
          <p:nvPr/>
        </p:nvPicPr>
        <p:blipFill>
          <a:blip r:embed="rId8"/>
          <a:stretch>
            <a:fillRect/>
          </a:stretch>
        </p:blipFill>
        <p:spPr>
          <a:xfrm>
            <a:off x="9689425" y="2756535"/>
            <a:ext cx="2704505" cy="1311593"/>
          </a:xfrm>
          <a:prstGeom prst="rect">
            <a:avLst/>
          </a:prstGeom>
        </p:spPr>
      </p:pic>
      <p:sp>
        <p:nvSpPr>
          <p:cNvPr id="14" name="Text 6"/>
          <p:cNvSpPr/>
          <p:nvPr/>
        </p:nvSpPr>
        <p:spPr>
          <a:xfrm>
            <a:off x="9689425" y="4233386"/>
            <a:ext cx="2598182" cy="275630"/>
          </a:xfrm>
          <a:prstGeom prst="rect">
            <a:avLst/>
          </a:prstGeom>
          <a:noFill/>
          <a:ln/>
        </p:spPr>
        <p:txBody>
          <a:bodyPr wrap="none" lIns="0" tIns="0" rIns="0" bIns="0" rtlCol="0" anchor="t"/>
          <a:lstStyle/>
          <a:p>
            <a:pPr marL="0" indent="0" algn="l">
              <a:lnSpc>
                <a:spcPts val="2150"/>
              </a:lnSpc>
              <a:buNone/>
            </a:pPr>
            <a:r>
              <a:rPr lang="en-US" sz="1700" dirty="0">
                <a:solidFill>
                  <a:srgbClr val="61615C"/>
                </a:solidFill>
                <a:latin typeface="Tomorrow Semi Bold" pitchFamily="34" charset="0"/>
                <a:ea typeface="Tomorrow Semi Bold" pitchFamily="34" charset="-122"/>
                <a:cs typeface="Tomorrow Semi Bold" pitchFamily="34" charset="-120"/>
              </a:rPr>
              <a:t>Fully Connected Layers</a:t>
            </a:r>
            <a:endParaRPr lang="en-US" sz="1700" dirty="0"/>
          </a:p>
        </p:txBody>
      </p:sp>
      <p:sp>
        <p:nvSpPr>
          <p:cNvPr id="15" name="Text 7"/>
          <p:cNvSpPr/>
          <p:nvPr/>
        </p:nvSpPr>
        <p:spPr>
          <a:xfrm>
            <a:off x="9689425" y="4597122"/>
            <a:ext cx="4160877" cy="1175147"/>
          </a:xfrm>
          <a:prstGeom prst="rect">
            <a:avLst/>
          </a:prstGeom>
          <a:noFill/>
          <a:ln/>
        </p:spPr>
        <p:txBody>
          <a:bodyPr wrap="square" lIns="0" tIns="0" rIns="0" bIns="0" rtlCol="0" anchor="t"/>
          <a:lstStyle/>
          <a:p>
            <a:pPr marL="0" indent="0" algn="l">
              <a:lnSpc>
                <a:spcPts val="1850"/>
              </a:lnSpc>
              <a:buNone/>
            </a:pPr>
            <a:r>
              <a:rPr lang="en-US" sz="1150" dirty="0">
                <a:solidFill>
                  <a:srgbClr val="61615C"/>
                </a:solidFill>
                <a:latin typeface="Tomorrow" pitchFamily="34" charset="0"/>
                <a:ea typeface="Tomorrow" pitchFamily="34" charset="-122"/>
                <a:cs typeface="Tomorrow" pitchFamily="34" charset="-120"/>
              </a:rPr>
              <a:t>These layers take the flattened output from the final convolutional/pooling layers. They combine all the high-level features learned by the CNN to make the final classification or prediction, typically feeding into a softmax function.</a:t>
            </a:r>
            <a:endParaRPr lang="en-US" sz="1150" dirty="0"/>
          </a:p>
        </p:txBody>
      </p:sp>
      <p:sp>
        <p:nvSpPr>
          <p:cNvPr id="16" name="Shape 8"/>
          <p:cNvSpPr/>
          <p:nvPr/>
        </p:nvSpPr>
        <p:spPr>
          <a:xfrm>
            <a:off x="633055" y="6736913"/>
            <a:ext cx="13364289" cy="859274"/>
          </a:xfrm>
          <a:prstGeom prst="roundRect">
            <a:avLst>
              <a:gd name="adj" fmla="val 2566"/>
            </a:avLst>
          </a:prstGeom>
          <a:solidFill>
            <a:srgbClr val="DADAD7"/>
          </a:solidFill>
          <a:ln/>
        </p:spPr>
        <p:txBody>
          <a:bodyPr/>
          <a:lstStyle/>
          <a:p>
            <a:endParaRPr lang="en-PK"/>
          </a:p>
        </p:txBody>
      </p:sp>
      <p:pic>
        <p:nvPicPr>
          <p:cNvPr id="17" name="Image 6" descr="preencoded.png"/>
          <p:cNvPicPr>
            <a:picLocks noChangeAspect="1"/>
          </p:cNvPicPr>
          <p:nvPr/>
        </p:nvPicPr>
        <p:blipFill>
          <a:blip r:embed="rId9"/>
          <a:stretch>
            <a:fillRect/>
          </a:stretch>
        </p:blipFill>
        <p:spPr>
          <a:xfrm>
            <a:off x="779978" y="6959560"/>
            <a:ext cx="183713" cy="146923"/>
          </a:xfrm>
          <a:prstGeom prst="rect">
            <a:avLst/>
          </a:prstGeom>
        </p:spPr>
      </p:pic>
      <p:sp>
        <p:nvSpPr>
          <p:cNvPr id="18" name="Text 9"/>
          <p:cNvSpPr/>
          <p:nvPr/>
        </p:nvSpPr>
        <p:spPr>
          <a:xfrm>
            <a:off x="1110615" y="6920508"/>
            <a:ext cx="12739807" cy="470059"/>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Tomorrow" pitchFamily="34" charset="0"/>
                <a:ea typeface="Tomorrow" pitchFamily="34" charset="-122"/>
                <a:cs typeface="Tomorrow" pitchFamily="34" charset="-120"/>
              </a:rPr>
              <a:t>The full CNN architecture flows from Input Data through CONV, RELU, and POOL layers, then FLATTENED, and finally into the Fully Connected Layer for output classification (e.g., "Normal Traffic," "DDoS Attack").</a:t>
            </a:r>
            <a:endParaRPr lang="en-US" sz="1150" dirty="0"/>
          </a:p>
        </p:txBody>
      </p:sp>
      <p:sp>
        <p:nvSpPr>
          <p:cNvPr id="19" name="Rounded Rectangle 18">
            <a:extLst>
              <a:ext uri="{FF2B5EF4-FFF2-40B4-BE49-F238E27FC236}">
                <a16:creationId xmlns:a16="http://schemas.microsoft.com/office/drawing/2014/main" id="{318C702C-70A0-9C6F-143F-D0D8F758C97A}"/>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338185"/>
          </a:xfrm>
          <a:prstGeom prst="rect">
            <a:avLst/>
          </a:prstGeom>
        </p:spPr>
      </p:pic>
      <p:sp>
        <p:nvSpPr>
          <p:cNvPr id="3" name="Shape 0"/>
          <p:cNvSpPr/>
          <p:nvPr/>
        </p:nvSpPr>
        <p:spPr>
          <a:xfrm>
            <a:off x="0" y="0"/>
            <a:ext cx="14630400" cy="8338185"/>
          </a:xfrm>
          <a:prstGeom prst="rect">
            <a:avLst/>
          </a:prstGeom>
          <a:solidFill>
            <a:srgbClr val="FCFCFC">
              <a:alpha val="85000"/>
            </a:srgbClr>
          </a:solidFill>
          <a:ln/>
        </p:spPr>
        <p:txBody>
          <a:bodyPr/>
          <a:lstStyle/>
          <a:p>
            <a:endParaRPr lang="en-PK"/>
          </a:p>
        </p:txBody>
      </p:sp>
      <p:sp>
        <p:nvSpPr>
          <p:cNvPr id="4" name="Text 1"/>
          <p:cNvSpPr/>
          <p:nvPr/>
        </p:nvSpPr>
        <p:spPr>
          <a:xfrm>
            <a:off x="628531" y="617339"/>
            <a:ext cx="6782514" cy="456009"/>
          </a:xfrm>
          <a:prstGeom prst="rect">
            <a:avLst/>
          </a:prstGeom>
          <a:noFill/>
          <a:ln/>
        </p:spPr>
        <p:txBody>
          <a:bodyPr wrap="none" lIns="0" tIns="0" rIns="0" bIns="0" rtlCol="0" anchor="t"/>
          <a:lstStyle/>
          <a:p>
            <a:pPr marL="0" indent="0" algn="l">
              <a:lnSpc>
                <a:spcPts val="3550"/>
              </a:lnSpc>
              <a:buNone/>
            </a:pPr>
            <a:r>
              <a:rPr lang="en-US" sz="2850" dirty="0">
                <a:solidFill>
                  <a:srgbClr val="1D1D1B"/>
                </a:solidFill>
                <a:latin typeface="Tomorrow Semi Bold" pitchFamily="34" charset="0"/>
                <a:ea typeface="Tomorrow Semi Bold" pitchFamily="34" charset="-122"/>
                <a:cs typeface="Tomorrow Semi Bold" pitchFamily="34" charset="-120"/>
              </a:rPr>
              <a:t>Transforming Network Data for CNNs</a:t>
            </a:r>
            <a:endParaRPr lang="en-US" sz="2850" dirty="0"/>
          </a:p>
        </p:txBody>
      </p:sp>
      <p:sp>
        <p:nvSpPr>
          <p:cNvPr id="5" name="Text 2"/>
          <p:cNvSpPr/>
          <p:nvPr/>
        </p:nvSpPr>
        <p:spPr>
          <a:xfrm>
            <a:off x="628531" y="1292185"/>
            <a:ext cx="13373338" cy="233482"/>
          </a:xfrm>
          <a:prstGeom prst="rect">
            <a:avLst/>
          </a:prstGeom>
          <a:noFill/>
          <a:ln/>
        </p:spPr>
        <p:txBody>
          <a:bodyPr wrap="none" lIns="0" tIns="0" rIns="0" bIns="0" rtlCol="0" anchor="t"/>
          <a:lstStyle/>
          <a:p>
            <a:pPr marL="0" indent="0" algn="l">
              <a:lnSpc>
                <a:spcPts val="1800"/>
              </a:lnSpc>
              <a:buNone/>
            </a:pPr>
            <a:r>
              <a:rPr lang="en-US" sz="1100" dirty="0">
                <a:solidFill>
                  <a:srgbClr val="61615C"/>
                </a:solidFill>
                <a:latin typeface="Tomorrow" pitchFamily="34" charset="0"/>
                <a:ea typeface="Tomorrow" pitchFamily="34" charset="-122"/>
                <a:cs typeface="Tomorrow" pitchFamily="34" charset="-120"/>
              </a:rPr>
              <a:t>The challenge is converting raw, heterogeneous network data (packets, flows) into a structured grid of numbers that a CNN can process.</a:t>
            </a:r>
            <a:endParaRPr lang="en-US" sz="1100" dirty="0"/>
          </a:p>
        </p:txBody>
      </p:sp>
      <p:sp>
        <p:nvSpPr>
          <p:cNvPr id="6" name="Shape 3"/>
          <p:cNvSpPr/>
          <p:nvPr/>
        </p:nvSpPr>
        <p:spPr>
          <a:xfrm>
            <a:off x="628531" y="1689735"/>
            <a:ext cx="6613684" cy="1821299"/>
          </a:xfrm>
          <a:prstGeom prst="roundRect">
            <a:avLst>
              <a:gd name="adj" fmla="val 1202"/>
            </a:avLst>
          </a:prstGeom>
          <a:solidFill>
            <a:srgbClr val="FCFCFC"/>
          </a:solidFill>
          <a:ln w="15240">
            <a:solidFill>
              <a:srgbClr val="D6D0D0"/>
            </a:solidFill>
            <a:prstDash val="solid"/>
          </a:ln>
        </p:spPr>
        <p:txBody>
          <a:bodyPr/>
          <a:lstStyle/>
          <a:p>
            <a:endParaRPr lang="en-PK"/>
          </a:p>
        </p:txBody>
      </p:sp>
      <p:sp>
        <p:nvSpPr>
          <p:cNvPr id="7" name="Shape 4"/>
          <p:cNvSpPr/>
          <p:nvPr/>
        </p:nvSpPr>
        <p:spPr>
          <a:xfrm>
            <a:off x="643771" y="1704975"/>
            <a:ext cx="6583204" cy="437674"/>
          </a:xfrm>
          <a:prstGeom prst="roundRect">
            <a:avLst>
              <a:gd name="adj" fmla="val 823"/>
            </a:avLst>
          </a:prstGeom>
          <a:solidFill>
            <a:srgbClr val="F0EAEA"/>
          </a:solidFill>
          <a:ln/>
        </p:spPr>
        <p:txBody>
          <a:bodyPr/>
          <a:lstStyle/>
          <a:p>
            <a:endParaRPr lang="en-PK"/>
          </a:p>
        </p:txBody>
      </p:sp>
      <p:pic>
        <p:nvPicPr>
          <p:cNvPr id="8" name="Image 1" descr="preencoded.png"/>
          <p:cNvPicPr>
            <a:picLocks noChangeAspect="1"/>
          </p:cNvPicPr>
          <p:nvPr/>
        </p:nvPicPr>
        <p:blipFill>
          <a:blip r:embed="rId4"/>
          <a:stretch>
            <a:fillRect/>
          </a:stretch>
        </p:blipFill>
        <p:spPr>
          <a:xfrm>
            <a:off x="3825954" y="1787009"/>
            <a:ext cx="218837" cy="273487"/>
          </a:xfrm>
          <a:prstGeom prst="rect">
            <a:avLst/>
          </a:prstGeom>
        </p:spPr>
      </p:pic>
      <p:sp>
        <p:nvSpPr>
          <p:cNvPr id="9" name="Text 5"/>
          <p:cNvSpPr/>
          <p:nvPr/>
        </p:nvSpPr>
        <p:spPr>
          <a:xfrm>
            <a:off x="789623" y="2288500"/>
            <a:ext cx="2188726" cy="273487"/>
          </a:xfrm>
          <a:prstGeom prst="rect">
            <a:avLst/>
          </a:prstGeom>
          <a:noFill/>
          <a:ln/>
        </p:spPr>
        <p:txBody>
          <a:bodyPr wrap="none" lIns="0" tIns="0" rIns="0" bIns="0" rtlCol="0" anchor="t"/>
          <a:lstStyle/>
          <a:p>
            <a:pPr marL="0" indent="0" algn="l">
              <a:lnSpc>
                <a:spcPts val="2150"/>
              </a:lnSpc>
              <a:buNone/>
            </a:pPr>
            <a:r>
              <a:rPr lang="en-US" sz="1700" dirty="0">
                <a:solidFill>
                  <a:srgbClr val="61615C"/>
                </a:solidFill>
                <a:latin typeface="Tomorrow Semi Bold" pitchFamily="34" charset="0"/>
                <a:ea typeface="Tomorrow Semi Bold" pitchFamily="34" charset="-122"/>
                <a:cs typeface="Tomorrow Semi Bold" pitchFamily="34" charset="-120"/>
              </a:rPr>
              <a:t>"Traffic Signal"</a:t>
            </a:r>
            <a:endParaRPr lang="en-US" sz="1700" dirty="0"/>
          </a:p>
        </p:txBody>
      </p:sp>
      <p:sp>
        <p:nvSpPr>
          <p:cNvPr id="10" name="Text 6"/>
          <p:cNvSpPr/>
          <p:nvPr/>
        </p:nvSpPr>
        <p:spPr>
          <a:xfrm>
            <a:off x="789623" y="2649498"/>
            <a:ext cx="6291501" cy="700445"/>
          </a:xfrm>
          <a:prstGeom prst="rect">
            <a:avLst/>
          </a:prstGeom>
          <a:noFill/>
          <a:ln/>
        </p:spPr>
        <p:txBody>
          <a:bodyPr wrap="square" lIns="0" tIns="0" rIns="0" bIns="0" rtlCol="0" anchor="t"/>
          <a:lstStyle/>
          <a:p>
            <a:pPr marL="0" indent="0" algn="l">
              <a:lnSpc>
                <a:spcPts val="1800"/>
              </a:lnSpc>
              <a:buNone/>
            </a:pPr>
            <a:r>
              <a:rPr lang="en-US" sz="1100" dirty="0">
                <a:solidFill>
                  <a:srgbClr val="61615C"/>
                </a:solidFill>
                <a:latin typeface="Tomorrow" pitchFamily="34" charset="0"/>
                <a:ea typeface="Tomorrow" pitchFamily="34" charset="-122"/>
                <a:cs typeface="Tomorrow" pitchFamily="34" charset="-120"/>
              </a:rPr>
              <a:t>Treats a sequence of network events as a 1D time-series signal. Features include packet size sequence, inter-arrival time, or bandwidth usage over time. The input to the CNN is a vector.</a:t>
            </a:r>
            <a:endParaRPr lang="en-US" sz="1100" dirty="0"/>
          </a:p>
        </p:txBody>
      </p:sp>
      <p:sp>
        <p:nvSpPr>
          <p:cNvPr id="11" name="Shape 7"/>
          <p:cNvSpPr/>
          <p:nvPr/>
        </p:nvSpPr>
        <p:spPr>
          <a:xfrm>
            <a:off x="7388066" y="1689735"/>
            <a:ext cx="6613803" cy="1821299"/>
          </a:xfrm>
          <a:prstGeom prst="roundRect">
            <a:avLst>
              <a:gd name="adj" fmla="val 1202"/>
            </a:avLst>
          </a:prstGeom>
          <a:solidFill>
            <a:srgbClr val="FCFCFC"/>
          </a:solidFill>
          <a:ln w="15240">
            <a:solidFill>
              <a:srgbClr val="D6D0D0"/>
            </a:solidFill>
            <a:prstDash val="solid"/>
          </a:ln>
        </p:spPr>
        <p:txBody>
          <a:bodyPr/>
          <a:lstStyle/>
          <a:p>
            <a:endParaRPr lang="en-PK"/>
          </a:p>
        </p:txBody>
      </p:sp>
      <p:sp>
        <p:nvSpPr>
          <p:cNvPr id="12" name="Shape 8"/>
          <p:cNvSpPr/>
          <p:nvPr/>
        </p:nvSpPr>
        <p:spPr>
          <a:xfrm>
            <a:off x="7403306" y="1704975"/>
            <a:ext cx="6583323" cy="437674"/>
          </a:xfrm>
          <a:prstGeom prst="roundRect">
            <a:avLst>
              <a:gd name="adj" fmla="val 823"/>
            </a:avLst>
          </a:prstGeom>
          <a:solidFill>
            <a:srgbClr val="F0EAEA"/>
          </a:solidFill>
          <a:ln/>
        </p:spPr>
        <p:txBody>
          <a:bodyPr/>
          <a:lstStyle/>
          <a:p>
            <a:endParaRPr lang="en-PK"/>
          </a:p>
        </p:txBody>
      </p:sp>
      <p:pic>
        <p:nvPicPr>
          <p:cNvPr id="13" name="Image 2" descr="preencoded.png"/>
          <p:cNvPicPr>
            <a:picLocks noChangeAspect="1"/>
          </p:cNvPicPr>
          <p:nvPr/>
        </p:nvPicPr>
        <p:blipFill>
          <a:blip r:embed="rId5"/>
          <a:stretch>
            <a:fillRect/>
          </a:stretch>
        </p:blipFill>
        <p:spPr>
          <a:xfrm>
            <a:off x="10585490" y="1787009"/>
            <a:ext cx="218837" cy="273487"/>
          </a:xfrm>
          <a:prstGeom prst="rect">
            <a:avLst/>
          </a:prstGeom>
        </p:spPr>
      </p:pic>
      <p:sp>
        <p:nvSpPr>
          <p:cNvPr id="14" name="Text 9"/>
          <p:cNvSpPr/>
          <p:nvPr/>
        </p:nvSpPr>
        <p:spPr>
          <a:xfrm>
            <a:off x="7549158" y="2288500"/>
            <a:ext cx="2188726" cy="273487"/>
          </a:xfrm>
          <a:prstGeom prst="rect">
            <a:avLst/>
          </a:prstGeom>
          <a:noFill/>
          <a:ln/>
        </p:spPr>
        <p:txBody>
          <a:bodyPr wrap="none" lIns="0" tIns="0" rIns="0" bIns="0" rtlCol="0" anchor="t"/>
          <a:lstStyle/>
          <a:p>
            <a:pPr marL="0" indent="0" algn="l">
              <a:lnSpc>
                <a:spcPts val="2150"/>
              </a:lnSpc>
              <a:buNone/>
            </a:pPr>
            <a:r>
              <a:rPr lang="en-US" sz="1700" dirty="0">
                <a:solidFill>
                  <a:srgbClr val="61615C"/>
                </a:solidFill>
                <a:latin typeface="Tomorrow Semi Bold" pitchFamily="34" charset="0"/>
                <a:ea typeface="Tomorrow Semi Bold" pitchFamily="34" charset="-122"/>
                <a:cs typeface="Tomorrow Semi Bold" pitchFamily="34" charset="-120"/>
              </a:rPr>
              <a:t>"Flow Matrix"</a:t>
            </a:r>
            <a:endParaRPr lang="en-US" sz="1700" dirty="0"/>
          </a:p>
        </p:txBody>
      </p:sp>
      <p:sp>
        <p:nvSpPr>
          <p:cNvPr id="15" name="Text 10"/>
          <p:cNvSpPr/>
          <p:nvPr/>
        </p:nvSpPr>
        <p:spPr>
          <a:xfrm>
            <a:off x="7549158" y="2649498"/>
            <a:ext cx="6291620" cy="700445"/>
          </a:xfrm>
          <a:prstGeom prst="rect">
            <a:avLst/>
          </a:prstGeom>
          <a:noFill/>
          <a:ln/>
        </p:spPr>
        <p:txBody>
          <a:bodyPr wrap="square" lIns="0" tIns="0" rIns="0" bIns="0" rtlCol="0" anchor="t"/>
          <a:lstStyle/>
          <a:p>
            <a:pPr marL="0" indent="0" algn="l">
              <a:lnSpc>
                <a:spcPts val="1800"/>
              </a:lnSpc>
              <a:buNone/>
            </a:pPr>
            <a:r>
              <a:rPr lang="en-US" sz="1100" dirty="0">
                <a:solidFill>
                  <a:srgbClr val="61615C"/>
                </a:solidFill>
                <a:latin typeface="Tomorrow" pitchFamily="34" charset="0"/>
                <a:ea typeface="Tomorrow" pitchFamily="34" charset="-122"/>
                <a:cs typeface="Tomorrow" pitchFamily="34" charset="-120"/>
              </a:rPr>
              <a:t>Represents a network activity snapshot as a 2D grid, similar to a grayscale image. Rows represent individual network flows or time windows, and columns represent flow features (e.g., packet count, byte count, duration). The input is a matrix.</a:t>
            </a:r>
            <a:endParaRPr lang="en-US" sz="1100" dirty="0"/>
          </a:p>
        </p:txBody>
      </p:sp>
      <p:pic>
        <p:nvPicPr>
          <p:cNvPr id="16" name="Image 3" descr="preencoded.png"/>
          <p:cNvPicPr>
            <a:picLocks noChangeAspect="1"/>
          </p:cNvPicPr>
          <p:nvPr/>
        </p:nvPicPr>
        <p:blipFill>
          <a:blip r:embed="rId6"/>
          <a:stretch>
            <a:fillRect/>
          </a:stretch>
        </p:blipFill>
        <p:spPr>
          <a:xfrm>
            <a:off x="628531" y="3839170"/>
            <a:ext cx="4230529" cy="3320058"/>
          </a:xfrm>
          <a:prstGeom prst="rect">
            <a:avLst/>
          </a:prstGeom>
        </p:spPr>
      </p:pic>
      <p:pic>
        <p:nvPicPr>
          <p:cNvPr id="17" name="Image 4" descr="preencoded.png"/>
          <p:cNvPicPr>
            <a:picLocks noChangeAspect="1"/>
          </p:cNvPicPr>
          <p:nvPr/>
        </p:nvPicPr>
        <p:blipFill>
          <a:blip r:embed="rId7"/>
          <a:stretch>
            <a:fillRect/>
          </a:stretch>
        </p:blipFill>
        <p:spPr>
          <a:xfrm>
            <a:off x="7500818" y="3839170"/>
            <a:ext cx="4230529" cy="3172897"/>
          </a:xfrm>
          <a:prstGeom prst="rect">
            <a:avLst/>
          </a:prstGeom>
        </p:spPr>
      </p:pic>
      <p:sp>
        <p:nvSpPr>
          <p:cNvPr id="18" name="Text 11"/>
          <p:cNvSpPr/>
          <p:nvPr/>
        </p:nvSpPr>
        <p:spPr>
          <a:xfrm>
            <a:off x="628531" y="7487364"/>
            <a:ext cx="13373338" cy="233482"/>
          </a:xfrm>
          <a:prstGeom prst="rect">
            <a:avLst/>
          </a:prstGeom>
          <a:noFill/>
          <a:ln/>
        </p:spPr>
        <p:txBody>
          <a:bodyPr wrap="none" lIns="0" tIns="0" rIns="0" bIns="0" rtlCol="0" anchor="t"/>
          <a:lstStyle/>
          <a:p>
            <a:pPr marL="0" indent="0" algn="l">
              <a:lnSpc>
                <a:spcPts val="1800"/>
              </a:lnSpc>
              <a:buNone/>
            </a:pPr>
            <a:r>
              <a:rPr lang="en-US" sz="1100" dirty="0">
                <a:solidFill>
                  <a:srgbClr val="61615C"/>
                </a:solidFill>
                <a:latin typeface="Tomorrow" pitchFamily="34" charset="0"/>
                <a:ea typeface="Tomorrow" pitchFamily="34" charset="-122"/>
                <a:cs typeface="Tomorrow" pitchFamily="34" charset="-120"/>
              </a:rPr>
              <a:t>Effective data representation is crucial: it allows the CNN to apply its powerful spatial pattern detection capabilities to temporal and statistical network features.</a:t>
            </a:r>
            <a:endParaRPr lang="en-US" sz="1100" dirty="0"/>
          </a:p>
        </p:txBody>
      </p:sp>
      <p:sp>
        <p:nvSpPr>
          <p:cNvPr id="19" name="Rounded Rectangle 18">
            <a:extLst>
              <a:ext uri="{FF2B5EF4-FFF2-40B4-BE49-F238E27FC236}">
                <a16:creationId xmlns:a16="http://schemas.microsoft.com/office/drawing/2014/main" id="{078D4CF3-F7DB-5219-95DE-667B9D1EC95A}"/>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03621"/>
          </a:xfrm>
          <a:prstGeom prst="rect">
            <a:avLst/>
          </a:prstGeom>
        </p:spPr>
      </p:pic>
      <p:sp>
        <p:nvSpPr>
          <p:cNvPr id="3" name="Text 0"/>
          <p:cNvSpPr/>
          <p:nvPr/>
        </p:nvSpPr>
        <p:spPr>
          <a:xfrm>
            <a:off x="793790" y="3348276"/>
            <a:ext cx="11599783" cy="575905"/>
          </a:xfrm>
          <a:prstGeom prst="rect">
            <a:avLst/>
          </a:prstGeom>
          <a:noFill/>
          <a:ln/>
        </p:spPr>
        <p:txBody>
          <a:bodyPr wrap="none" lIns="0" tIns="0" rIns="0" bIns="0" rtlCol="0" anchor="t"/>
          <a:lstStyle/>
          <a:p>
            <a:pPr marL="0" indent="0" algn="l">
              <a:lnSpc>
                <a:spcPts val="4500"/>
              </a:lnSpc>
              <a:buNone/>
            </a:pPr>
            <a:r>
              <a:rPr lang="en-US" sz="3600" dirty="0">
                <a:solidFill>
                  <a:srgbClr val="1D1D1B"/>
                </a:solidFill>
                <a:latin typeface="Tomorrow Semi Bold" pitchFamily="34" charset="0"/>
                <a:ea typeface="Tomorrow Semi Bold" pitchFamily="34" charset="-122"/>
                <a:cs typeface="Tomorrow Semi Bold" pitchFamily="34" charset="-120"/>
              </a:rPr>
              <a:t>CNNs in Action: Use Cases for Network Monitoring</a:t>
            </a:r>
            <a:endParaRPr lang="en-US" sz="3600" dirty="0"/>
          </a:p>
        </p:txBody>
      </p:sp>
      <p:sp>
        <p:nvSpPr>
          <p:cNvPr id="4" name="Shape 1"/>
          <p:cNvSpPr/>
          <p:nvPr/>
        </p:nvSpPr>
        <p:spPr>
          <a:xfrm>
            <a:off x="793790" y="4200525"/>
            <a:ext cx="4224814" cy="2984421"/>
          </a:xfrm>
          <a:prstGeom prst="roundRect">
            <a:avLst>
              <a:gd name="adj" fmla="val 3677"/>
            </a:avLst>
          </a:prstGeom>
          <a:solidFill>
            <a:srgbClr val="FCFCFC"/>
          </a:solidFill>
          <a:ln w="22860">
            <a:solidFill>
              <a:srgbClr val="D6D0D0"/>
            </a:solidFill>
            <a:prstDash val="solid"/>
          </a:ln>
        </p:spPr>
        <p:txBody>
          <a:bodyPr/>
          <a:lstStyle/>
          <a:p>
            <a:endParaRPr lang="en-PK"/>
          </a:p>
        </p:txBody>
      </p:sp>
      <p:sp>
        <p:nvSpPr>
          <p:cNvPr id="5" name="Shape 2"/>
          <p:cNvSpPr/>
          <p:nvPr/>
        </p:nvSpPr>
        <p:spPr>
          <a:xfrm>
            <a:off x="770930" y="4200525"/>
            <a:ext cx="91440" cy="2984421"/>
          </a:xfrm>
          <a:prstGeom prst="roundRect">
            <a:avLst>
              <a:gd name="adj" fmla="val 30233"/>
            </a:avLst>
          </a:prstGeom>
          <a:solidFill>
            <a:srgbClr val="1D1D1B"/>
          </a:solidFill>
          <a:ln/>
        </p:spPr>
        <p:txBody>
          <a:bodyPr/>
          <a:lstStyle/>
          <a:p>
            <a:endParaRPr lang="en-PK"/>
          </a:p>
        </p:txBody>
      </p:sp>
      <p:sp>
        <p:nvSpPr>
          <p:cNvPr id="6" name="Text 3"/>
          <p:cNvSpPr/>
          <p:nvPr/>
        </p:nvSpPr>
        <p:spPr>
          <a:xfrm>
            <a:off x="1069419" y="4407575"/>
            <a:ext cx="2799993" cy="345519"/>
          </a:xfrm>
          <a:prstGeom prst="rect">
            <a:avLst/>
          </a:prstGeom>
          <a:noFill/>
          <a:ln/>
        </p:spPr>
        <p:txBody>
          <a:bodyPr wrap="none" lIns="0" tIns="0" rIns="0" bIns="0" rtlCol="0" anchor="t"/>
          <a:lstStyle/>
          <a:p>
            <a:pPr marL="0" indent="0" algn="l">
              <a:lnSpc>
                <a:spcPts val="2700"/>
              </a:lnSpc>
              <a:buNone/>
            </a:pPr>
            <a:r>
              <a:rPr lang="en-US" sz="2150" dirty="0">
                <a:solidFill>
                  <a:srgbClr val="61615C"/>
                </a:solidFill>
                <a:latin typeface="Tomorrow Semi Bold" pitchFamily="34" charset="0"/>
                <a:ea typeface="Tomorrow Semi Bold" pitchFamily="34" charset="-122"/>
                <a:cs typeface="Tomorrow Semi Bold" pitchFamily="34" charset="-120"/>
              </a:rPr>
              <a:t>Traffic Classification</a:t>
            </a:r>
            <a:endParaRPr lang="en-US" sz="2150" dirty="0"/>
          </a:p>
        </p:txBody>
      </p:sp>
      <p:sp>
        <p:nvSpPr>
          <p:cNvPr id="7" name="Text 4"/>
          <p:cNvSpPr/>
          <p:nvPr/>
        </p:nvSpPr>
        <p:spPr>
          <a:xfrm>
            <a:off x="1069419" y="4863584"/>
            <a:ext cx="3742134" cy="2063591"/>
          </a:xfrm>
          <a:prstGeom prst="rect">
            <a:avLst/>
          </a:prstGeom>
          <a:noFill/>
          <a:ln/>
        </p:spPr>
        <p:txBody>
          <a:bodyPr wrap="square" lIns="0" tIns="0" rIns="0" bIns="0" rtlCol="0" anchor="t"/>
          <a:lstStyle/>
          <a:p>
            <a:pPr marL="0" indent="0" algn="l">
              <a:lnSpc>
                <a:spcPts val="2300"/>
              </a:lnSpc>
              <a:buNone/>
            </a:pPr>
            <a:r>
              <a:rPr lang="en-US" sz="1450" dirty="0">
                <a:solidFill>
                  <a:srgbClr val="61615C"/>
                </a:solidFill>
                <a:latin typeface="Tomorrow" pitchFamily="34" charset="0"/>
                <a:ea typeface="Tomorrow" pitchFamily="34" charset="-122"/>
                <a:cs typeface="Tomorrow" pitchFamily="34" charset="-120"/>
              </a:rPr>
              <a:t>The goal is to identify the application or service generating the traffic (e.g., video streaming, gaming, P2P). CNNs detect subtle patterns in packet sizes and timings that distinguish applications, even within encrypted tunnels, aiding bandwidth management and QoS.</a:t>
            </a:r>
            <a:endParaRPr lang="en-US" sz="1450" dirty="0"/>
          </a:p>
        </p:txBody>
      </p:sp>
      <p:sp>
        <p:nvSpPr>
          <p:cNvPr id="8" name="Shape 5"/>
          <p:cNvSpPr/>
          <p:nvPr/>
        </p:nvSpPr>
        <p:spPr>
          <a:xfrm>
            <a:off x="5202793" y="4200525"/>
            <a:ext cx="4224814" cy="2984421"/>
          </a:xfrm>
          <a:prstGeom prst="roundRect">
            <a:avLst>
              <a:gd name="adj" fmla="val 3677"/>
            </a:avLst>
          </a:prstGeom>
          <a:solidFill>
            <a:srgbClr val="FCFCFC"/>
          </a:solidFill>
          <a:ln w="22860">
            <a:solidFill>
              <a:srgbClr val="D6D0D0"/>
            </a:solidFill>
            <a:prstDash val="solid"/>
          </a:ln>
        </p:spPr>
        <p:txBody>
          <a:bodyPr/>
          <a:lstStyle/>
          <a:p>
            <a:endParaRPr lang="en-PK"/>
          </a:p>
        </p:txBody>
      </p:sp>
      <p:sp>
        <p:nvSpPr>
          <p:cNvPr id="9" name="Shape 6"/>
          <p:cNvSpPr/>
          <p:nvPr/>
        </p:nvSpPr>
        <p:spPr>
          <a:xfrm>
            <a:off x="5179933" y="4200525"/>
            <a:ext cx="91440" cy="2984421"/>
          </a:xfrm>
          <a:prstGeom prst="roundRect">
            <a:avLst>
              <a:gd name="adj" fmla="val 30233"/>
            </a:avLst>
          </a:prstGeom>
          <a:solidFill>
            <a:srgbClr val="1D1D1B"/>
          </a:solidFill>
          <a:ln/>
        </p:spPr>
        <p:txBody>
          <a:bodyPr/>
          <a:lstStyle/>
          <a:p>
            <a:endParaRPr lang="en-PK"/>
          </a:p>
        </p:txBody>
      </p:sp>
      <p:sp>
        <p:nvSpPr>
          <p:cNvPr id="10" name="Text 7"/>
          <p:cNvSpPr/>
          <p:nvPr/>
        </p:nvSpPr>
        <p:spPr>
          <a:xfrm>
            <a:off x="5478423" y="4407575"/>
            <a:ext cx="3742134" cy="691039"/>
          </a:xfrm>
          <a:prstGeom prst="rect">
            <a:avLst/>
          </a:prstGeom>
          <a:noFill/>
          <a:ln/>
        </p:spPr>
        <p:txBody>
          <a:bodyPr wrap="square" lIns="0" tIns="0" rIns="0" bIns="0" rtlCol="0" anchor="t"/>
          <a:lstStyle/>
          <a:p>
            <a:pPr marL="0" indent="0" algn="l">
              <a:lnSpc>
                <a:spcPts val="2700"/>
              </a:lnSpc>
              <a:buNone/>
            </a:pPr>
            <a:r>
              <a:rPr lang="en-US" sz="2150" dirty="0">
                <a:solidFill>
                  <a:srgbClr val="61615C"/>
                </a:solidFill>
                <a:latin typeface="Tomorrow Semi Bold" pitchFamily="34" charset="0"/>
                <a:ea typeface="Tomorrow Semi Bold" pitchFamily="34" charset="-122"/>
                <a:cs typeface="Tomorrow Semi Bold" pitchFamily="34" charset="-120"/>
              </a:rPr>
              <a:t>Intrusion Detection Systems (IDS)</a:t>
            </a:r>
            <a:endParaRPr lang="en-US" sz="2150" dirty="0"/>
          </a:p>
        </p:txBody>
      </p:sp>
      <p:sp>
        <p:nvSpPr>
          <p:cNvPr id="11" name="Text 8"/>
          <p:cNvSpPr/>
          <p:nvPr/>
        </p:nvSpPr>
        <p:spPr>
          <a:xfrm>
            <a:off x="5478423" y="5209103"/>
            <a:ext cx="3742134" cy="1768793"/>
          </a:xfrm>
          <a:prstGeom prst="rect">
            <a:avLst/>
          </a:prstGeom>
          <a:noFill/>
          <a:ln/>
        </p:spPr>
        <p:txBody>
          <a:bodyPr wrap="square" lIns="0" tIns="0" rIns="0" bIns="0" rtlCol="0" anchor="t"/>
          <a:lstStyle/>
          <a:p>
            <a:pPr marL="0" indent="0" algn="l">
              <a:lnSpc>
                <a:spcPts val="2300"/>
              </a:lnSpc>
              <a:buNone/>
            </a:pPr>
            <a:r>
              <a:rPr lang="en-US" sz="1450" dirty="0">
                <a:solidFill>
                  <a:srgbClr val="61615C"/>
                </a:solidFill>
                <a:latin typeface="Tomorrow" pitchFamily="34" charset="0"/>
                <a:ea typeface="Tomorrow" pitchFamily="34" charset="-122"/>
                <a:cs typeface="Tomorrow" pitchFamily="34" charset="-120"/>
              </a:rPr>
              <a:t>CNNs detect malicious activities like Port scans, DDoS attacks, and botnet C&amp;C traffic. They learn "normal" patterns and flag deviations, enabling signature-less anomaly detection for new attacks and providing early threat warnings.</a:t>
            </a:r>
            <a:endParaRPr lang="en-US" sz="1450" dirty="0"/>
          </a:p>
        </p:txBody>
      </p:sp>
      <p:sp>
        <p:nvSpPr>
          <p:cNvPr id="12" name="Shape 9"/>
          <p:cNvSpPr/>
          <p:nvPr/>
        </p:nvSpPr>
        <p:spPr>
          <a:xfrm>
            <a:off x="9611797" y="4200525"/>
            <a:ext cx="4224814" cy="2984421"/>
          </a:xfrm>
          <a:prstGeom prst="roundRect">
            <a:avLst>
              <a:gd name="adj" fmla="val 3677"/>
            </a:avLst>
          </a:prstGeom>
          <a:solidFill>
            <a:srgbClr val="FCFCFC"/>
          </a:solidFill>
          <a:ln w="22860">
            <a:solidFill>
              <a:srgbClr val="D6D0D0"/>
            </a:solidFill>
            <a:prstDash val="solid"/>
          </a:ln>
        </p:spPr>
        <p:txBody>
          <a:bodyPr/>
          <a:lstStyle/>
          <a:p>
            <a:endParaRPr lang="en-PK"/>
          </a:p>
        </p:txBody>
      </p:sp>
      <p:sp>
        <p:nvSpPr>
          <p:cNvPr id="13" name="Shape 10"/>
          <p:cNvSpPr/>
          <p:nvPr/>
        </p:nvSpPr>
        <p:spPr>
          <a:xfrm>
            <a:off x="9588937" y="4200525"/>
            <a:ext cx="91440" cy="2984421"/>
          </a:xfrm>
          <a:prstGeom prst="roundRect">
            <a:avLst>
              <a:gd name="adj" fmla="val 30233"/>
            </a:avLst>
          </a:prstGeom>
          <a:solidFill>
            <a:srgbClr val="1D1D1B"/>
          </a:solidFill>
          <a:ln/>
        </p:spPr>
        <p:txBody>
          <a:bodyPr/>
          <a:lstStyle/>
          <a:p>
            <a:endParaRPr lang="en-PK"/>
          </a:p>
        </p:txBody>
      </p:sp>
      <p:sp>
        <p:nvSpPr>
          <p:cNvPr id="14" name="Text 11"/>
          <p:cNvSpPr/>
          <p:nvPr/>
        </p:nvSpPr>
        <p:spPr>
          <a:xfrm>
            <a:off x="9887426" y="4407575"/>
            <a:ext cx="3648313" cy="345519"/>
          </a:xfrm>
          <a:prstGeom prst="rect">
            <a:avLst/>
          </a:prstGeom>
          <a:noFill/>
          <a:ln/>
        </p:spPr>
        <p:txBody>
          <a:bodyPr wrap="none" lIns="0" tIns="0" rIns="0" bIns="0" rtlCol="0" anchor="t"/>
          <a:lstStyle/>
          <a:p>
            <a:pPr marL="0" indent="0" algn="l">
              <a:lnSpc>
                <a:spcPts val="2700"/>
              </a:lnSpc>
              <a:buNone/>
            </a:pPr>
            <a:r>
              <a:rPr lang="en-US" sz="2150" dirty="0">
                <a:solidFill>
                  <a:srgbClr val="61615C"/>
                </a:solidFill>
                <a:latin typeface="Tomorrow Semi Bold" pitchFamily="34" charset="0"/>
                <a:ea typeface="Tomorrow Semi Bold" pitchFamily="34" charset="-122"/>
                <a:cs typeface="Tomorrow Semi Bold" pitchFamily="34" charset="-120"/>
              </a:rPr>
              <a:t>Encrypted Traffic Analysis</a:t>
            </a:r>
            <a:endParaRPr lang="en-US" sz="2150" dirty="0"/>
          </a:p>
        </p:txBody>
      </p:sp>
      <p:sp>
        <p:nvSpPr>
          <p:cNvPr id="15" name="Text 12"/>
          <p:cNvSpPr/>
          <p:nvPr/>
        </p:nvSpPr>
        <p:spPr>
          <a:xfrm>
            <a:off x="9887426" y="4863584"/>
            <a:ext cx="3742134" cy="2063591"/>
          </a:xfrm>
          <a:prstGeom prst="rect">
            <a:avLst/>
          </a:prstGeom>
          <a:noFill/>
          <a:ln/>
        </p:spPr>
        <p:txBody>
          <a:bodyPr wrap="square" lIns="0" tIns="0" rIns="0" bIns="0" rtlCol="0" anchor="t"/>
          <a:lstStyle/>
          <a:p>
            <a:pPr marL="0" indent="0" algn="l">
              <a:lnSpc>
                <a:spcPts val="2300"/>
              </a:lnSpc>
              <a:buNone/>
            </a:pPr>
            <a:r>
              <a:rPr lang="en-US" sz="1450" dirty="0">
                <a:solidFill>
                  <a:srgbClr val="61615C"/>
                </a:solidFill>
                <a:latin typeface="Tomorrow" pitchFamily="34" charset="0"/>
                <a:ea typeface="Tomorrow" pitchFamily="34" charset="-122"/>
                <a:cs typeface="Tomorrow" pitchFamily="34" charset="-120"/>
              </a:rPr>
              <a:t>Since the payload is encrypted, CNNs analyze </a:t>
            </a:r>
            <a:r>
              <a:rPr lang="en-US" sz="1450" b="1" dirty="0">
                <a:solidFill>
                  <a:srgbClr val="61615C"/>
                </a:solidFill>
                <a:latin typeface="Tomorrow" pitchFamily="34" charset="0"/>
                <a:ea typeface="Tomorrow" pitchFamily="34" charset="-122"/>
                <a:cs typeface="Tomorrow" pitchFamily="34" charset="-120"/>
              </a:rPr>
              <a:t>metadata</a:t>
            </a:r>
            <a:r>
              <a:rPr lang="en-US" sz="1450" dirty="0">
                <a:solidFill>
                  <a:srgbClr val="61615C"/>
                </a:solidFill>
                <a:latin typeface="Tomorrow" pitchFamily="34" charset="0"/>
                <a:ea typeface="Tomorrow" pitchFamily="34" charset="-122"/>
                <a:cs typeface="Tomorrow" pitchFamily="34" charset="-120"/>
              </a:rPr>
              <a:t> (packet sizes, inter-arrival times, flow duration) which remains unencrypted. This allows identification of specific encrypted applications (VPN, Tor, Netflix) or detection of anomalies within those flows.</a:t>
            </a:r>
            <a:endParaRPr lang="en-US" sz="1450" dirty="0"/>
          </a:p>
        </p:txBody>
      </p:sp>
      <p:sp>
        <p:nvSpPr>
          <p:cNvPr id="16" name="Rounded Rectangle 15">
            <a:extLst>
              <a:ext uri="{FF2B5EF4-FFF2-40B4-BE49-F238E27FC236}">
                <a16:creationId xmlns:a16="http://schemas.microsoft.com/office/drawing/2014/main" id="{085B6715-CCBC-AAF0-8CC0-A86151954789}"/>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736884"/>
          </a:xfrm>
          <a:prstGeom prst="rect">
            <a:avLst/>
          </a:prstGeom>
        </p:spPr>
      </p:pic>
      <p:sp>
        <p:nvSpPr>
          <p:cNvPr id="3" name="Text 0"/>
          <p:cNvSpPr/>
          <p:nvPr/>
        </p:nvSpPr>
        <p:spPr>
          <a:xfrm>
            <a:off x="598527" y="2324695"/>
            <a:ext cx="7299722" cy="434221"/>
          </a:xfrm>
          <a:prstGeom prst="rect">
            <a:avLst/>
          </a:prstGeom>
          <a:noFill/>
          <a:ln/>
        </p:spPr>
        <p:txBody>
          <a:bodyPr wrap="none" lIns="0" tIns="0" rIns="0" bIns="0" rtlCol="0" anchor="t"/>
          <a:lstStyle/>
          <a:p>
            <a:pPr marL="0" indent="0" algn="l">
              <a:lnSpc>
                <a:spcPts val="3400"/>
              </a:lnSpc>
              <a:buNone/>
            </a:pPr>
            <a:r>
              <a:rPr lang="en-US" sz="2700" dirty="0">
                <a:solidFill>
                  <a:srgbClr val="1D1D1B"/>
                </a:solidFill>
                <a:latin typeface="Tomorrow Semi Bold" pitchFamily="34" charset="0"/>
                <a:ea typeface="Tomorrow Semi Bold" pitchFamily="34" charset="-122"/>
                <a:cs typeface="Tomorrow Semi Bold" pitchFamily="34" charset="-120"/>
              </a:rPr>
              <a:t>Advantages &amp; Challenges of CNNs in NMS</a:t>
            </a:r>
            <a:endParaRPr lang="en-US" sz="2700" dirty="0"/>
          </a:p>
        </p:txBody>
      </p:sp>
      <p:sp>
        <p:nvSpPr>
          <p:cNvPr id="4" name="Shape 1"/>
          <p:cNvSpPr/>
          <p:nvPr/>
        </p:nvSpPr>
        <p:spPr>
          <a:xfrm>
            <a:off x="598527" y="3331845"/>
            <a:ext cx="6547247" cy="1079778"/>
          </a:xfrm>
          <a:prstGeom prst="roundRect">
            <a:avLst>
              <a:gd name="adj" fmla="val 6775"/>
            </a:avLst>
          </a:prstGeom>
          <a:solidFill>
            <a:srgbClr val="FCFCFC"/>
          </a:solidFill>
          <a:ln/>
        </p:spPr>
        <p:txBody>
          <a:bodyPr/>
          <a:lstStyle/>
          <a:p>
            <a:endParaRPr lang="en-PK"/>
          </a:p>
        </p:txBody>
      </p:sp>
      <p:sp>
        <p:nvSpPr>
          <p:cNvPr id="5" name="Shape 2"/>
          <p:cNvSpPr/>
          <p:nvPr/>
        </p:nvSpPr>
        <p:spPr>
          <a:xfrm>
            <a:off x="598527" y="3316605"/>
            <a:ext cx="6547247" cy="60960"/>
          </a:xfrm>
          <a:prstGeom prst="roundRect">
            <a:avLst>
              <a:gd name="adj" fmla="val 34193"/>
            </a:avLst>
          </a:prstGeom>
          <a:solidFill>
            <a:srgbClr val="1D1D1B"/>
          </a:solidFill>
          <a:ln/>
        </p:spPr>
        <p:txBody>
          <a:bodyPr/>
          <a:lstStyle/>
          <a:p>
            <a:endParaRPr lang="en-PK"/>
          </a:p>
        </p:txBody>
      </p:sp>
      <p:sp>
        <p:nvSpPr>
          <p:cNvPr id="6" name="Shape 3"/>
          <p:cNvSpPr/>
          <p:nvPr/>
        </p:nvSpPr>
        <p:spPr>
          <a:xfrm>
            <a:off x="3663732" y="3123486"/>
            <a:ext cx="416838" cy="416838"/>
          </a:xfrm>
          <a:prstGeom prst="roundRect">
            <a:avLst>
              <a:gd name="adj" fmla="val 219366"/>
            </a:avLst>
          </a:prstGeom>
          <a:solidFill>
            <a:srgbClr val="1D1D1B"/>
          </a:solidFill>
          <a:ln/>
        </p:spPr>
        <p:txBody>
          <a:bodyPr/>
          <a:lstStyle/>
          <a:p>
            <a:endParaRPr lang="en-PK"/>
          </a:p>
        </p:txBody>
      </p:sp>
      <p:pic>
        <p:nvPicPr>
          <p:cNvPr id="7" name="Image 1" descr="preencoded.png"/>
          <p:cNvPicPr>
            <a:picLocks noChangeAspect="1"/>
          </p:cNvPicPr>
          <p:nvPr/>
        </p:nvPicPr>
        <p:blipFill>
          <a:blip r:embed="rId4"/>
          <a:stretch>
            <a:fillRect/>
          </a:stretch>
        </p:blipFill>
        <p:spPr>
          <a:xfrm>
            <a:off x="3788747" y="3227665"/>
            <a:ext cx="166688" cy="208359"/>
          </a:xfrm>
          <a:prstGeom prst="rect">
            <a:avLst/>
          </a:prstGeom>
        </p:spPr>
      </p:pic>
      <p:sp>
        <p:nvSpPr>
          <p:cNvPr id="8" name="Text 4"/>
          <p:cNvSpPr/>
          <p:nvPr/>
        </p:nvSpPr>
        <p:spPr>
          <a:xfrm>
            <a:off x="752713" y="3679150"/>
            <a:ext cx="2436019"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Automatic Feature Learning</a:t>
            </a:r>
            <a:endParaRPr lang="en-US" sz="1350" dirty="0"/>
          </a:p>
        </p:txBody>
      </p:sp>
      <p:sp>
        <p:nvSpPr>
          <p:cNvPr id="9" name="Text 5"/>
          <p:cNvSpPr/>
          <p:nvPr/>
        </p:nvSpPr>
        <p:spPr>
          <a:xfrm>
            <a:off x="752713" y="4035147"/>
            <a:ext cx="6238875" cy="222290"/>
          </a:xfrm>
          <a:prstGeom prst="rect">
            <a:avLst/>
          </a:prstGeom>
          <a:noFill/>
          <a:ln/>
        </p:spPr>
        <p:txBody>
          <a:bodyPr wrap="non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Eliminates the need for time-consuming and error-prone manual feature engineering.</a:t>
            </a:r>
            <a:endParaRPr lang="en-US" sz="1050" dirty="0"/>
          </a:p>
        </p:txBody>
      </p:sp>
      <p:sp>
        <p:nvSpPr>
          <p:cNvPr id="10" name="Shape 6"/>
          <p:cNvSpPr/>
          <p:nvPr/>
        </p:nvSpPr>
        <p:spPr>
          <a:xfrm>
            <a:off x="598527" y="4758928"/>
            <a:ext cx="6547247" cy="1079778"/>
          </a:xfrm>
          <a:prstGeom prst="roundRect">
            <a:avLst>
              <a:gd name="adj" fmla="val 6775"/>
            </a:avLst>
          </a:prstGeom>
          <a:solidFill>
            <a:srgbClr val="FCFCFC"/>
          </a:solidFill>
          <a:ln/>
        </p:spPr>
        <p:txBody>
          <a:bodyPr/>
          <a:lstStyle/>
          <a:p>
            <a:endParaRPr lang="en-PK"/>
          </a:p>
        </p:txBody>
      </p:sp>
      <p:sp>
        <p:nvSpPr>
          <p:cNvPr id="11" name="Shape 7"/>
          <p:cNvSpPr/>
          <p:nvPr/>
        </p:nvSpPr>
        <p:spPr>
          <a:xfrm>
            <a:off x="598527" y="4743688"/>
            <a:ext cx="6547247" cy="60960"/>
          </a:xfrm>
          <a:prstGeom prst="roundRect">
            <a:avLst>
              <a:gd name="adj" fmla="val 34193"/>
            </a:avLst>
          </a:prstGeom>
          <a:solidFill>
            <a:srgbClr val="1D1D1B"/>
          </a:solidFill>
          <a:ln/>
        </p:spPr>
        <p:txBody>
          <a:bodyPr/>
          <a:lstStyle/>
          <a:p>
            <a:endParaRPr lang="en-PK"/>
          </a:p>
        </p:txBody>
      </p:sp>
      <p:sp>
        <p:nvSpPr>
          <p:cNvPr id="12" name="Shape 8"/>
          <p:cNvSpPr/>
          <p:nvPr/>
        </p:nvSpPr>
        <p:spPr>
          <a:xfrm>
            <a:off x="3663732" y="4550569"/>
            <a:ext cx="416838" cy="416838"/>
          </a:xfrm>
          <a:prstGeom prst="roundRect">
            <a:avLst>
              <a:gd name="adj" fmla="val 219366"/>
            </a:avLst>
          </a:prstGeom>
          <a:solidFill>
            <a:srgbClr val="1D1D1B"/>
          </a:solidFill>
          <a:ln/>
        </p:spPr>
        <p:txBody>
          <a:bodyPr/>
          <a:lstStyle/>
          <a:p>
            <a:endParaRPr lang="en-PK"/>
          </a:p>
        </p:txBody>
      </p:sp>
      <p:pic>
        <p:nvPicPr>
          <p:cNvPr id="13" name="Image 2" descr="preencoded.png"/>
          <p:cNvPicPr>
            <a:picLocks noChangeAspect="1"/>
          </p:cNvPicPr>
          <p:nvPr/>
        </p:nvPicPr>
        <p:blipFill>
          <a:blip r:embed="rId5"/>
          <a:stretch>
            <a:fillRect/>
          </a:stretch>
        </p:blipFill>
        <p:spPr>
          <a:xfrm>
            <a:off x="3788747" y="4654748"/>
            <a:ext cx="166688" cy="208359"/>
          </a:xfrm>
          <a:prstGeom prst="rect">
            <a:avLst/>
          </a:prstGeom>
        </p:spPr>
      </p:pic>
      <p:sp>
        <p:nvSpPr>
          <p:cNvPr id="14" name="Text 9"/>
          <p:cNvSpPr/>
          <p:nvPr/>
        </p:nvSpPr>
        <p:spPr>
          <a:xfrm>
            <a:off x="752713" y="5106233"/>
            <a:ext cx="2301835"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Detection of Novel Attacks</a:t>
            </a:r>
            <a:endParaRPr lang="en-US" sz="1350" dirty="0"/>
          </a:p>
        </p:txBody>
      </p:sp>
      <p:sp>
        <p:nvSpPr>
          <p:cNvPr id="15" name="Text 10"/>
          <p:cNvSpPr/>
          <p:nvPr/>
        </p:nvSpPr>
        <p:spPr>
          <a:xfrm>
            <a:off x="752713" y="5462230"/>
            <a:ext cx="6238875" cy="222290"/>
          </a:xfrm>
          <a:prstGeom prst="rect">
            <a:avLst/>
          </a:prstGeom>
          <a:noFill/>
          <a:ln/>
        </p:spPr>
        <p:txBody>
          <a:bodyPr wrap="non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Learns generalizable patterns, allowing for signature-less detection of new threats.</a:t>
            </a:r>
            <a:endParaRPr lang="en-US" sz="1050" dirty="0"/>
          </a:p>
        </p:txBody>
      </p:sp>
      <p:sp>
        <p:nvSpPr>
          <p:cNvPr id="16" name="Shape 11"/>
          <p:cNvSpPr/>
          <p:nvPr/>
        </p:nvSpPr>
        <p:spPr>
          <a:xfrm>
            <a:off x="598527" y="6186011"/>
            <a:ext cx="6547247" cy="1302068"/>
          </a:xfrm>
          <a:prstGeom prst="roundRect">
            <a:avLst>
              <a:gd name="adj" fmla="val 5618"/>
            </a:avLst>
          </a:prstGeom>
          <a:solidFill>
            <a:srgbClr val="FCFCFC"/>
          </a:solidFill>
          <a:ln/>
        </p:spPr>
        <p:txBody>
          <a:bodyPr/>
          <a:lstStyle/>
          <a:p>
            <a:endParaRPr lang="en-PK"/>
          </a:p>
        </p:txBody>
      </p:sp>
      <p:sp>
        <p:nvSpPr>
          <p:cNvPr id="17" name="Shape 12"/>
          <p:cNvSpPr/>
          <p:nvPr/>
        </p:nvSpPr>
        <p:spPr>
          <a:xfrm>
            <a:off x="598527" y="6170771"/>
            <a:ext cx="6547247" cy="60960"/>
          </a:xfrm>
          <a:prstGeom prst="roundRect">
            <a:avLst>
              <a:gd name="adj" fmla="val 34193"/>
            </a:avLst>
          </a:prstGeom>
          <a:solidFill>
            <a:srgbClr val="1D1D1B"/>
          </a:solidFill>
          <a:ln/>
        </p:spPr>
        <p:txBody>
          <a:bodyPr/>
          <a:lstStyle/>
          <a:p>
            <a:endParaRPr lang="en-PK"/>
          </a:p>
        </p:txBody>
      </p:sp>
      <p:sp>
        <p:nvSpPr>
          <p:cNvPr id="18" name="Shape 13"/>
          <p:cNvSpPr/>
          <p:nvPr/>
        </p:nvSpPr>
        <p:spPr>
          <a:xfrm>
            <a:off x="3663732" y="5977652"/>
            <a:ext cx="416838" cy="416838"/>
          </a:xfrm>
          <a:prstGeom prst="roundRect">
            <a:avLst>
              <a:gd name="adj" fmla="val 219366"/>
            </a:avLst>
          </a:prstGeom>
          <a:solidFill>
            <a:srgbClr val="1D1D1B"/>
          </a:solidFill>
          <a:ln/>
        </p:spPr>
        <p:txBody>
          <a:bodyPr/>
          <a:lstStyle/>
          <a:p>
            <a:endParaRPr lang="en-PK"/>
          </a:p>
        </p:txBody>
      </p:sp>
      <p:pic>
        <p:nvPicPr>
          <p:cNvPr id="19" name="Image 3" descr="preencoded.png"/>
          <p:cNvPicPr>
            <a:picLocks noChangeAspect="1"/>
          </p:cNvPicPr>
          <p:nvPr/>
        </p:nvPicPr>
        <p:blipFill>
          <a:blip r:embed="rId6"/>
          <a:stretch>
            <a:fillRect/>
          </a:stretch>
        </p:blipFill>
        <p:spPr>
          <a:xfrm>
            <a:off x="3788747" y="6081832"/>
            <a:ext cx="166688" cy="208359"/>
          </a:xfrm>
          <a:prstGeom prst="rect">
            <a:avLst/>
          </a:prstGeom>
        </p:spPr>
      </p:pic>
      <p:sp>
        <p:nvSpPr>
          <p:cNvPr id="20" name="Text 14"/>
          <p:cNvSpPr/>
          <p:nvPr/>
        </p:nvSpPr>
        <p:spPr>
          <a:xfrm>
            <a:off x="752713" y="6533317"/>
            <a:ext cx="2192893"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Scalability &amp; Robustness</a:t>
            </a:r>
            <a:endParaRPr lang="en-US" sz="1350" dirty="0"/>
          </a:p>
        </p:txBody>
      </p:sp>
      <p:sp>
        <p:nvSpPr>
          <p:cNvPr id="21" name="Text 15"/>
          <p:cNvSpPr/>
          <p:nvPr/>
        </p:nvSpPr>
        <p:spPr>
          <a:xfrm>
            <a:off x="752713" y="6889313"/>
            <a:ext cx="6238875" cy="444579"/>
          </a:xfrm>
          <a:prstGeom prst="rect">
            <a:avLst/>
          </a:prstGeom>
          <a:noFill/>
          <a:ln/>
        </p:spPr>
        <p:txBody>
          <a:bodyPr wrap="squar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Can effectively process large volumes of high-dimensional network data and is robust to noise or small pattern variations.</a:t>
            </a:r>
            <a:endParaRPr lang="en-US" sz="1050" dirty="0"/>
          </a:p>
        </p:txBody>
      </p:sp>
      <p:pic>
        <p:nvPicPr>
          <p:cNvPr id="22" name="Image 4" descr="preencoded.png"/>
          <p:cNvPicPr>
            <a:picLocks noChangeAspect="1"/>
          </p:cNvPicPr>
          <p:nvPr/>
        </p:nvPicPr>
        <p:blipFill>
          <a:blip r:embed="rId7"/>
          <a:stretch>
            <a:fillRect/>
          </a:stretch>
        </p:blipFill>
        <p:spPr>
          <a:xfrm>
            <a:off x="7544276" y="3101638"/>
            <a:ext cx="208359" cy="260509"/>
          </a:xfrm>
          <a:prstGeom prst="rect">
            <a:avLst/>
          </a:prstGeom>
        </p:spPr>
      </p:pic>
      <p:sp>
        <p:nvSpPr>
          <p:cNvPr id="23" name="Text 16"/>
          <p:cNvSpPr/>
          <p:nvPr/>
        </p:nvSpPr>
        <p:spPr>
          <a:xfrm>
            <a:off x="7943731" y="3123486"/>
            <a:ext cx="1736884"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Data Labeling</a:t>
            </a:r>
            <a:endParaRPr lang="en-US" sz="1350" dirty="0"/>
          </a:p>
        </p:txBody>
      </p:sp>
      <p:sp>
        <p:nvSpPr>
          <p:cNvPr id="24" name="Text 17"/>
          <p:cNvSpPr/>
          <p:nvPr/>
        </p:nvSpPr>
        <p:spPr>
          <a:xfrm>
            <a:off x="7943731" y="3479483"/>
            <a:ext cx="6095762" cy="444579"/>
          </a:xfrm>
          <a:prstGeom prst="rect">
            <a:avLst/>
          </a:prstGeom>
          <a:noFill/>
          <a:ln/>
        </p:spPr>
        <p:txBody>
          <a:bodyPr wrap="squar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Requires large, accurately labeled datasets for supervised learning, which is often time-consuming and expensive to acquire.</a:t>
            </a:r>
            <a:endParaRPr lang="en-US" sz="1050" dirty="0"/>
          </a:p>
        </p:txBody>
      </p:sp>
      <p:pic>
        <p:nvPicPr>
          <p:cNvPr id="25" name="Image 5" descr="preencoded.png"/>
          <p:cNvPicPr>
            <a:picLocks noChangeAspect="1"/>
          </p:cNvPicPr>
          <p:nvPr/>
        </p:nvPicPr>
        <p:blipFill>
          <a:blip r:embed="rId7"/>
          <a:stretch>
            <a:fillRect/>
          </a:stretch>
        </p:blipFill>
        <p:spPr>
          <a:xfrm>
            <a:off x="7544276" y="4180106"/>
            <a:ext cx="208359" cy="260509"/>
          </a:xfrm>
          <a:prstGeom prst="rect">
            <a:avLst/>
          </a:prstGeom>
        </p:spPr>
      </p:pic>
      <p:sp>
        <p:nvSpPr>
          <p:cNvPr id="26" name="Text 18"/>
          <p:cNvSpPr/>
          <p:nvPr/>
        </p:nvSpPr>
        <p:spPr>
          <a:xfrm>
            <a:off x="7943731" y="4201954"/>
            <a:ext cx="2277785"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Computational Resources</a:t>
            </a:r>
            <a:endParaRPr lang="en-US" sz="1350" dirty="0"/>
          </a:p>
        </p:txBody>
      </p:sp>
      <p:sp>
        <p:nvSpPr>
          <p:cNvPr id="27" name="Text 19"/>
          <p:cNvSpPr/>
          <p:nvPr/>
        </p:nvSpPr>
        <p:spPr>
          <a:xfrm>
            <a:off x="7943731" y="4557951"/>
            <a:ext cx="6095762" cy="444579"/>
          </a:xfrm>
          <a:prstGeom prst="rect">
            <a:avLst/>
          </a:prstGeom>
          <a:noFill/>
          <a:ln/>
        </p:spPr>
        <p:txBody>
          <a:bodyPr wrap="squar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Training deep CNNs is computationally intensive, often requiring specialized hardware like GPUs.</a:t>
            </a:r>
            <a:endParaRPr lang="en-US" sz="1050" dirty="0"/>
          </a:p>
        </p:txBody>
      </p:sp>
      <p:pic>
        <p:nvPicPr>
          <p:cNvPr id="28" name="Image 6" descr="preencoded.png"/>
          <p:cNvPicPr>
            <a:picLocks noChangeAspect="1"/>
          </p:cNvPicPr>
          <p:nvPr/>
        </p:nvPicPr>
        <p:blipFill>
          <a:blip r:embed="rId7"/>
          <a:stretch>
            <a:fillRect/>
          </a:stretch>
        </p:blipFill>
        <p:spPr>
          <a:xfrm>
            <a:off x="7544276" y="5258574"/>
            <a:ext cx="208359" cy="260509"/>
          </a:xfrm>
          <a:prstGeom prst="rect">
            <a:avLst/>
          </a:prstGeom>
        </p:spPr>
      </p:pic>
      <p:sp>
        <p:nvSpPr>
          <p:cNvPr id="29" name="Text 20"/>
          <p:cNvSpPr/>
          <p:nvPr/>
        </p:nvSpPr>
        <p:spPr>
          <a:xfrm>
            <a:off x="7943731" y="5280422"/>
            <a:ext cx="1736884"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Interpretability</a:t>
            </a:r>
            <a:endParaRPr lang="en-US" sz="1350" dirty="0"/>
          </a:p>
        </p:txBody>
      </p:sp>
      <p:sp>
        <p:nvSpPr>
          <p:cNvPr id="30" name="Text 21"/>
          <p:cNvSpPr/>
          <p:nvPr/>
        </p:nvSpPr>
        <p:spPr>
          <a:xfrm>
            <a:off x="7943731" y="5636419"/>
            <a:ext cx="6095762" cy="444579"/>
          </a:xfrm>
          <a:prstGeom prst="rect">
            <a:avLst/>
          </a:prstGeom>
          <a:noFill/>
          <a:ln/>
        </p:spPr>
        <p:txBody>
          <a:bodyPr wrap="squar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The "black box" nature of deep learning makes it difficult to understand the reasoning behind a specific detection decision.</a:t>
            </a:r>
            <a:endParaRPr lang="en-US" sz="1050" dirty="0"/>
          </a:p>
        </p:txBody>
      </p:sp>
      <p:pic>
        <p:nvPicPr>
          <p:cNvPr id="31" name="Image 7" descr="preencoded.png"/>
          <p:cNvPicPr>
            <a:picLocks noChangeAspect="1"/>
          </p:cNvPicPr>
          <p:nvPr/>
        </p:nvPicPr>
        <p:blipFill>
          <a:blip r:embed="rId7"/>
          <a:stretch>
            <a:fillRect/>
          </a:stretch>
        </p:blipFill>
        <p:spPr>
          <a:xfrm>
            <a:off x="7544276" y="6337042"/>
            <a:ext cx="208359" cy="260509"/>
          </a:xfrm>
          <a:prstGeom prst="rect">
            <a:avLst/>
          </a:prstGeom>
        </p:spPr>
      </p:pic>
      <p:sp>
        <p:nvSpPr>
          <p:cNvPr id="32" name="Text 22"/>
          <p:cNvSpPr/>
          <p:nvPr/>
        </p:nvSpPr>
        <p:spPr>
          <a:xfrm>
            <a:off x="7943731" y="6358890"/>
            <a:ext cx="1736884" cy="217051"/>
          </a:xfrm>
          <a:prstGeom prst="rect">
            <a:avLst/>
          </a:prstGeom>
          <a:noFill/>
          <a:ln/>
        </p:spPr>
        <p:txBody>
          <a:bodyPr wrap="none" lIns="0" tIns="0" rIns="0" bIns="0" rtlCol="0" anchor="t"/>
          <a:lstStyle/>
          <a:p>
            <a:pPr marL="0" indent="0" algn="l">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Concept Drift</a:t>
            </a:r>
            <a:endParaRPr lang="en-US" sz="1350" dirty="0"/>
          </a:p>
        </p:txBody>
      </p:sp>
      <p:sp>
        <p:nvSpPr>
          <p:cNvPr id="33" name="Text 23"/>
          <p:cNvSpPr/>
          <p:nvPr/>
        </p:nvSpPr>
        <p:spPr>
          <a:xfrm>
            <a:off x="7943731" y="6714887"/>
            <a:ext cx="6095762" cy="444579"/>
          </a:xfrm>
          <a:prstGeom prst="rect">
            <a:avLst/>
          </a:prstGeom>
          <a:noFill/>
          <a:ln/>
        </p:spPr>
        <p:txBody>
          <a:bodyPr wrap="square" lIns="0" tIns="0" rIns="0" bIns="0" rtlCol="0" anchor="t"/>
          <a:lstStyle/>
          <a:p>
            <a:pPr marL="0" indent="0" algn="l">
              <a:lnSpc>
                <a:spcPts val="1750"/>
              </a:lnSpc>
              <a:buNone/>
            </a:pPr>
            <a:r>
              <a:rPr lang="en-US" sz="1050" dirty="0">
                <a:solidFill>
                  <a:srgbClr val="61615C"/>
                </a:solidFill>
                <a:latin typeface="Tomorrow" pitchFamily="34" charset="0"/>
                <a:ea typeface="Tomorrow" pitchFamily="34" charset="-122"/>
                <a:cs typeface="Tomorrow" pitchFamily="34" charset="-120"/>
              </a:rPr>
              <a:t>Network traffic patterns constantly evolve, meaning models require frequent retraining to maintain accuracy.</a:t>
            </a:r>
            <a:endParaRPr lang="en-US" sz="1050" dirty="0"/>
          </a:p>
        </p:txBody>
      </p:sp>
      <p:sp>
        <p:nvSpPr>
          <p:cNvPr id="34" name="Rounded Rectangle 33">
            <a:extLst>
              <a:ext uri="{FF2B5EF4-FFF2-40B4-BE49-F238E27FC236}">
                <a16:creationId xmlns:a16="http://schemas.microsoft.com/office/drawing/2014/main" id="{9BC31ED9-56CD-C816-10C0-7AF172A6F05B}"/>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933337"/>
          </a:xfrm>
          <a:prstGeom prst="rect">
            <a:avLst/>
          </a:prstGeom>
        </p:spPr>
      </p:pic>
      <p:sp>
        <p:nvSpPr>
          <p:cNvPr id="3" name="Text 0"/>
          <p:cNvSpPr/>
          <p:nvPr/>
        </p:nvSpPr>
        <p:spPr>
          <a:xfrm>
            <a:off x="666274" y="2587704"/>
            <a:ext cx="5639753" cy="483394"/>
          </a:xfrm>
          <a:prstGeom prst="rect">
            <a:avLst/>
          </a:prstGeom>
          <a:noFill/>
          <a:ln/>
        </p:spPr>
        <p:txBody>
          <a:bodyPr wrap="none" lIns="0" tIns="0" rIns="0" bIns="0" rtlCol="0" anchor="t"/>
          <a:lstStyle/>
          <a:p>
            <a:pPr marL="0" indent="0" algn="l">
              <a:lnSpc>
                <a:spcPts val="3800"/>
              </a:lnSpc>
              <a:buNone/>
            </a:pPr>
            <a:r>
              <a:rPr lang="en-US" sz="3000" dirty="0">
                <a:solidFill>
                  <a:srgbClr val="1D1D1B"/>
                </a:solidFill>
                <a:latin typeface="Tomorrow Semi Bold" pitchFamily="34" charset="0"/>
                <a:ea typeface="Tomorrow Semi Bold" pitchFamily="34" charset="-122"/>
                <a:cs typeface="Tomorrow Semi Bold" pitchFamily="34" charset="-120"/>
              </a:rPr>
              <a:t>Key Takeaways &amp; Discussion</a:t>
            </a:r>
            <a:endParaRPr lang="en-US" sz="3000" dirty="0"/>
          </a:p>
        </p:txBody>
      </p:sp>
      <p:sp>
        <p:nvSpPr>
          <p:cNvPr id="4" name="Shape 1"/>
          <p:cNvSpPr/>
          <p:nvPr/>
        </p:nvSpPr>
        <p:spPr>
          <a:xfrm>
            <a:off x="666274" y="3303032"/>
            <a:ext cx="6571536" cy="1232654"/>
          </a:xfrm>
          <a:prstGeom prst="roundRect">
            <a:avLst>
              <a:gd name="adj" fmla="val 8902"/>
            </a:avLst>
          </a:prstGeom>
          <a:solidFill>
            <a:srgbClr val="FCFCFC"/>
          </a:solidFill>
          <a:ln w="22860">
            <a:solidFill>
              <a:srgbClr val="D6D0D0"/>
            </a:solidFill>
            <a:prstDash val="solid"/>
          </a:ln>
        </p:spPr>
        <p:txBody>
          <a:bodyPr/>
          <a:lstStyle/>
          <a:p>
            <a:endParaRPr lang="en-PK"/>
          </a:p>
        </p:txBody>
      </p:sp>
      <p:sp>
        <p:nvSpPr>
          <p:cNvPr id="5" name="Shape 2"/>
          <p:cNvSpPr/>
          <p:nvPr/>
        </p:nvSpPr>
        <p:spPr>
          <a:xfrm>
            <a:off x="643414" y="3303032"/>
            <a:ext cx="91440" cy="1232654"/>
          </a:xfrm>
          <a:prstGeom prst="roundRect">
            <a:avLst>
              <a:gd name="adj" fmla="val 25373"/>
            </a:avLst>
          </a:prstGeom>
          <a:solidFill>
            <a:srgbClr val="1D1D1B"/>
          </a:solidFill>
          <a:ln/>
        </p:spPr>
        <p:txBody>
          <a:bodyPr/>
          <a:lstStyle/>
          <a:p>
            <a:endParaRPr lang="en-PK"/>
          </a:p>
        </p:txBody>
      </p:sp>
      <p:sp>
        <p:nvSpPr>
          <p:cNvPr id="6" name="Text 3"/>
          <p:cNvSpPr/>
          <p:nvPr/>
        </p:nvSpPr>
        <p:spPr>
          <a:xfrm>
            <a:off x="912376" y="3480554"/>
            <a:ext cx="2320052" cy="290036"/>
          </a:xfrm>
          <a:prstGeom prst="rect">
            <a:avLst/>
          </a:prstGeom>
          <a:noFill/>
          <a:ln/>
        </p:spPr>
        <p:txBody>
          <a:bodyPr wrap="none" lIns="0" tIns="0" rIns="0" bIns="0" rtlCol="0" anchor="t"/>
          <a:lstStyle/>
          <a:p>
            <a:pPr marL="0" indent="0" algn="l">
              <a:lnSpc>
                <a:spcPts val="2250"/>
              </a:lnSpc>
              <a:buNone/>
            </a:pPr>
            <a:r>
              <a:rPr lang="en-US" sz="1800" dirty="0">
                <a:solidFill>
                  <a:srgbClr val="61615C"/>
                </a:solidFill>
                <a:latin typeface="Tomorrow Semi Bold" pitchFamily="34" charset="0"/>
                <a:ea typeface="Tomorrow Semi Bold" pitchFamily="34" charset="-122"/>
                <a:cs typeface="Tomorrow Semi Bold" pitchFamily="34" charset="-120"/>
              </a:rPr>
              <a:t>Adaptive Solution</a:t>
            </a:r>
            <a:endParaRPr lang="en-US" sz="1800" dirty="0"/>
          </a:p>
        </p:txBody>
      </p:sp>
      <p:sp>
        <p:nvSpPr>
          <p:cNvPr id="7" name="Text 4"/>
          <p:cNvSpPr/>
          <p:nvPr/>
        </p:nvSpPr>
        <p:spPr>
          <a:xfrm>
            <a:off x="912376" y="3863340"/>
            <a:ext cx="6147911" cy="494824"/>
          </a:xfrm>
          <a:prstGeom prst="rect">
            <a:avLst/>
          </a:prstGeom>
          <a:noFill/>
          <a:ln/>
        </p:spPr>
        <p:txBody>
          <a:bodyPr wrap="square" lIns="0" tIns="0" rIns="0" bIns="0" rtlCol="0" anchor="t"/>
          <a:lstStyle/>
          <a:p>
            <a:pPr marL="0" indent="0" algn="l">
              <a:lnSpc>
                <a:spcPts val="1900"/>
              </a:lnSpc>
              <a:buNone/>
            </a:pPr>
            <a:r>
              <a:rPr lang="en-US" sz="1200" dirty="0">
                <a:solidFill>
                  <a:srgbClr val="61615C"/>
                </a:solidFill>
                <a:latin typeface="Tomorrow" pitchFamily="34" charset="0"/>
                <a:ea typeface="Tomorrow" pitchFamily="34" charset="-122"/>
                <a:cs typeface="Tomorrow" pitchFamily="34" charset="-120"/>
              </a:rPr>
              <a:t>Traditional NMS struggles with modern threats; CNNs offer a powerful, adaptive solution by automatically learning patterns.</a:t>
            </a:r>
          </a:p>
          <a:p>
            <a:pPr marL="0" indent="0" algn="l">
              <a:lnSpc>
                <a:spcPts val="1900"/>
              </a:lnSpc>
              <a:buNone/>
            </a:pPr>
            <a:endParaRPr lang="en-US" sz="1200" dirty="0"/>
          </a:p>
        </p:txBody>
      </p:sp>
      <p:sp>
        <p:nvSpPr>
          <p:cNvPr id="8" name="Shape 5"/>
          <p:cNvSpPr/>
          <p:nvPr/>
        </p:nvSpPr>
        <p:spPr>
          <a:xfrm>
            <a:off x="7392472" y="3303032"/>
            <a:ext cx="6571655" cy="1232654"/>
          </a:xfrm>
          <a:prstGeom prst="roundRect">
            <a:avLst>
              <a:gd name="adj" fmla="val 8902"/>
            </a:avLst>
          </a:prstGeom>
          <a:solidFill>
            <a:srgbClr val="FCFCFC"/>
          </a:solidFill>
          <a:ln w="22860">
            <a:solidFill>
              <a:srgbClr val="D6D0D0"/>
            </a:solidFill>
            <a:prstDash val="solid"/>
          </a:ln>
        </p:spPr>
        <p:txBody>
          <a:bodyPr/>
          <a:lstStyle/>
          <a:p>
            <a:endParaRPr lang="en-PK"/>
          </a:p>
        </p:txBody>
      </p:sp>
      <p:sp>
        <p:nvSpPr>
          <p:cNvPr id="9" name="Shape 6"/>
          <p:cNvSpPr/>
          <p:nvPr/>
        </p:nvSpPr>
        <p:spPr>
          <a:xfrm>
            <a:off x="7369612" y="3303032"/>
            <a:ext cx="91440" cy="1232654"/>
          </a:xfrm>
          <a:prstGeom prst="roundRect">
            <a:avLst>
              <a:gd name="adj" fmla="val 25373"/>
            </a:avLst>
          </a:prstGeom>
          <a:solidFill>
            <a:srgbClr val="1D1D1B"/>
          </a:solidFill>
          <a:ln/>
        </p:spPr>
        <p:txBody>
          <a:bodyPr/>
          <a:lstStyle/>
          <a:p>
            <a:endParaRPr lang="en-PK"/>
          </a:p>
        </p:txBody>
      </p:sp>
      <p:sp>
        <p:nvSpPr>
          <p:cNvPr id="10" name="Text 7"/>
          <p:cNvSpPr/>
          <p:nvPr/>
        </p:nvSpPr>
        <p:spPr>
          <a:xfrm>
            <a:off x="7638574" y="3480554"/>
            <a:ext cx="2320052" cy="290036"/>
          </a:xfrm>
          <a:prstGeom prst="rect">
            <a:avLst/>
          </a:prstGeom>
          <a:noFill/>
          <a:ln/>
        </p:spPr>
        <p:txBody>
          <a:bodyPr wrap="none" lIns="0" tIns="0" rIns="0" bIns="0" rtlCol="0" anchor="t"/>
          <a:lstStyle/>
          <a:p>
            <a:pPr marL="0" indent="0" algn="l">
              <a:lnSpc>
                <a:spcPts val="2250"/>
              </a:lnSpc>
              <a:buNone/>
            </a:pPr>
            <a:r>
              <a:rPr lang="en-US" sz="1800" dirty="0">
                <a:solidFill>
                  <a:srgbClr val="61615C"/>
                </a:solidFill>
                <a:latin typeface="Tomorrow Semi Bold" pitchFamily="34" charset="0"/>
                <a:ea typeface="Tomorrow Semi Bold" pitchFamily="34" charset="-122"/>
                <a:cs typeface="Tomorrow Semi Bold" pitchFamily="34" charset="-120"/>
              </a:rPr>
              <a:t>Data is Key</a:t>
            </a:r>
            <a:endParaRPr lang="en-US" sz="1800" dirty="0"/>
          </a:p>
        </p:txBody>
      </p:sp>
      <p:sp>
        <p:nvSpPr>
          <p:cNvPr id="11" name="Text 8"/>
          <p:cNvSpPr/>
          <p:nvPr/>
        </p:nvSpPr>
        <p:spPr>
          <a:xfrm>
            <a:off x="7638574" y="3863340"/>
            <a:ext cx="6148030" cy="494824"/>
          </a:xfrm>
          <a:prstGeom prst="rect">
            <a:avLst/>
          </a:prstGeom>
          <a:noFill/>
          <a:ln/>
        </p:spPr>
        <p:txBody>
          <a:bodyPr wrap="square" lIns="0" tIns="0" rIns="0" bIns="0" rtlCol="0" anchor="t"/>
          <a:lstStyle/>
          <a:p>
            <a:pPr marL="0" indent="0" algn="l">
              <a:lnSpc>
                <a:spcPts val="1900"/>
              </a:lnSpc>
              <a:buNone/>
            </a:pPr>
            <a:r>
              <a:rPr lang="en-US" sz="1200" dirty="0">
                <a:solidFill>
                  <a:srgbClr val="61615C"/>
                </a:solidFill>
                <a:latin typeface="Tomorrow" pitchFamily="34" charset="0"/>
                <a:ea typeface="Tomorrow" pitchFamily="34" charset="-122"/>
                <a:cs typeface="Tomorrow" pitchFamily="34" charset="-120"/>
              </a:rPr>
              <a:t>Effective data representation (1D signals, 2D matrices) is crucial for successful implementation.</a:t>
            </a:r>
            <a:endParaRPr lang="en-US" sz="1200" dirty="0"/>
          </a:p>
        </p:txBody>
      </p:sp>
      <p:sp>
        <p:nvSpPr>
          <p:cNvPr id="12" name="Shape 9"/>
          <p:cNvSpPr/>
          <p:nvPr/>
        </p:nvSpPr>
        <p:spPr>
          <a:xfrm>
            <a:off x="666274" y="4690348"/>
            <a:ext cx="6571536" cy="1232654"/>
          </a:xfrm>
          <a:prstGeom prst="roundRect">
            <a:avLst>
              <a:gd name="adj" fmla="val 8902"/>
            </a:avLst>
          </a:prstGeom>
          <a:solidFill>
            <a:srgbClr val="FCFCFC"/>
          </a:solidFill>
          <a:ln w="22860">
            <a:solidFill>
              <a:srgbClr val="D6D0D0"/>
            </a:solidFill>
            <a:prstDash val="solid"/>
          </a:ln>
        </p:spPr>
        <p:txBody>
          <a:bodyPr/>
          <a:lstStyle/>
          <a:p>
            <a:endParaRPr lang="en-PK"/>
          </a:p>
        </p:txBody>
      </p:sp>
      <p:sp>
        <p:nvSpPr>
          <p:cNvPr id="13" name="Shape 10"/>
          <p:cNvSpPr/>
          <p:nvPr/>
        </p:nvSpPr>
        <p:spPr>
          <a:xfrm>
            <a:off x="643414" y="4690348"/>
            <a:ext cx="91440" cy="1232654"/>
          </a:xfrm>
          <a:prstGeom prst="roundRect">
            <a:avLst>
              <a:gd name="adj" fmla="val 25373"/>
            </a:avLst>
          </a:prstGeom>
          <a:solidFill>
            <a:srgbClr val="1D1D1B"/>
          </a:solidFill>
          <a:ln/>
        </p:spPr>
        <p:txBody>
          <a:bodyPr/>
          <a:lstStyle/>
          <a:p>
            <a:endParaRPr lang="en-PK"/>
          </a:p>
        </p:txBody>
      </p:sp>
      <p:sp>
        <p:nvSpPr>
          <p:cNvPr id="14" name="Text 11"/>
          <p:cNvSpPr/>
          <p:nvPr/>
        </p:nvSpPr>
        <p:spPr>
          <a:xfrm>
            <a:off x="912376" y="4867870"/>
            <a:ext cx="2320052" cy="290036"/>
          </a:xfrm>
          <a:prstGeom prst="rect">
            <a:avLst/>
          </a:prstGeom>
          <a:noFill/>
          <a:ln/>
        </p:spPr>
        <p:txBody>
          <a:bodyPr wrap="none" lIns="0" tIns="0" rIns="0" bIns="0" rtlCol="0" anchor="t"/>
          <a:lstStyle/>
          <a:p>
            <a:pPr marL="0" indent="0" algn="l">
              <a:lnSpc>
                <a:spcPts val="2250"/>
              </a:lnSpc>
              <a:buNone/>
            </a:pPr>
            <a:r>
              <a:rPr lang="en-US" sz="1800" dirty="0">
                <a:solidFill>
                  <a:srgbClr val="61615C"/>
                </a:solidFill>
                <a:latin typeface="Tomorrow Semi Bold" pitchFamily="34" charset="0"/>
                <a:ea typeface="Tomorrow Semi Bold" pitchFamily="34" charset="-122"/>
                <a:cs typeface="Tomorrow Semi Bold" pitchFamily="34" charset="-120"/>
              </a:rPr>
              <a:t>Core Applications</a:t>
            </a:r>
            <a:endParaRPr lang="en-US" sz="1800" dirty="0"/>
          </a:p>
        </p:txBody>
      </p:sp>
      <p:sp>
        <p:nvSpPr>
          <p:cNvPr id="15" name="Text 12"/>
          <p:cNvSpPr/>
          <p:nvPr/>
        </p:nvSpPr>
        <p:spPr>
          <a:xfrm>
            <a:off x="912376" y="5250656"/>
            <a:ext cx="6147911" cy="494824"/>
          </a:xfrm>
          <a:prstGeom prst="rect">
            <a:avLst/>
          </a:prstGeom>
          <a:noFill/>
          <a:ln/>
        </p:spPr>
        <p:txBody>
          <a:bodyPr wrap="square" lIns="0" tIns="0" rIns="0" bIns="0" rtlCol="0" anchor="t"/>
          <a:lstStyle/>
          <a:p>
            <a:pPr marL="0" indent="0" algn="l">
              <a:lnSpc>
                <a:spcPts val="1900"/>
              </a:lnSpc>
              <a:buNone/>
            </a:pPr>
            <a:r>
              <a:rPr lang="en-US" sz="1200" dirty="0">
                <a:solidFill>
                  <a:srgbClr val="61615C"/>
                </a:solidFill>
                <a:latin typeface="Tomorrow" pitchFamily="34" charset="0"/>
                <a:ea typeface="Tomorrow" pitchFamily="34" charset="-122"/>
                <a:cs typeface="Tomorrow" pitchFamily="34" charset="-120"/>
              </a:rPr>
              <a:t>CNNs excel in traffic classification, intrusion detection, and encrypted traffic analysis.</a:t>
            </a:r>
            <a:endParaRPr lang="en-US" sz="1200" dirty="0"/>
          </a:p>
        </p:txBody>
      </p:sp>
      <p:sp>
        <p:nvSpPr>
          <p:cNvPr id="16" name="Shape 13"/>
          <p:cNvSpPr/>
          <p:nvPr/>
        </p:nvSpPr>
        <p:spPr>
          <a:xfrm>
            <a:off x="7392472" y="4690348"/>
            <a:ext cx="6571655" cy="1232654"/>
          </a:xfrm>
          <a:prstGeom prst="roundRect">
            <a:avLst>
              <a:gd name="adj" fmla="val 8902"/>
            </a:avLst>
          </a:prstGeom>
          <a:solidFill>
            <a:srgbClr val="FCFCFC"/>
          </a:solidFill>
          <a:ln w="22860">
            <a:solidFill>
              <a:srgbClr val="D6D0D0"/>
            </a:solidFill>
            <a:prstDash val="solid"/>
          </a:ln>
        </p:spPr>
        <p:txBody>
          <a:bodyPr/>
          <a:lstStyle/>
          <a:p>
            <a:endParaRPr lang="en-PK"/>
          </a:p>
        </p:txBody>
      </p:sp>
      <p:sp>
        <p:nvSpPr>
          <p:cNvPr id="17" name="Shape 14"/>
          <p:cNvSpPr/>
          <p:nvPr/>
        </p:nvSpPr>
        <p:spPr>
          <a:xfrm>
            <a:off x="7369612" y="4690348"/>
            <a:ext cx="91440" cy="1232654"/>
          </a:xfrm>
          <a:prstGeom prst="roundRect">
            <a:avLst>
              <a:gd name="adj" fmla="val 25373"/>
            </a:avLst>
          </a:prstGeom>
          <a:solidFill>
            <a:srgbClr val="1D1D1B"/>
          </a:solidFill>
          <a:ln/>
        </p:spPr>
        <p:txBody>
          <a:bodyPr/>
          <a:lstStyle/>
          <a:p>
            <a:endParaRPr lang="en-PK"/>
          </a:p>
        </p:txBody>
      </p:sp>
      <p:sp>
        <p:nvSpPr>
          <p:cNvPr id="18" name="Text 15"/>
          <p:cNvSpPr/>
          <p:nvPr/>
        </p:nvSpPr>
        <p:spPr>
          <a:xfrm>
            <a:off x="7638574" y="4867870"/>
            <a:ext cx="2320052" cy="290036"/>
          </a:xfrm>
          <a:prstGeom prst="rect">
            <a:avLst/>
          </a:prstGeom>
          <a:noFill/>
          <a:ln/>
        </p:spPr>
        <p:txBody>
          <a:bodyPr wrap="none" lIns="0" tIns="0" rIns="0" bIns="0" rtlCol="0" anchor="t"/>
          <a:lstStyle/>
          <a:p>
            <a:pPr marL="0" indent="0" algn="l">
              <a:lnSpc>
                <a:spcPts val="2250"/>
              </a:lnSpc>
              <a:buNone/>
            </a:pPr>
            <a:r>
              <a:rPr lang="en-US" sz="1800" dirty="0">
                <a:solidFill>
                  <a:srgbClr val="61615C"/>
                </a:solidFill>
                <a:latin typeface="Tomorrow Semi Bold" pitchFamily="34" charset="0"/>
                <a:ea typeface="Tomorrow Semi Bold" pitchFamily="34" charset="-122"/>
                <a:cs typeface="Tomorrow Semi Bold" pitchFamily="34" charset="-120"/>
              </a:rPr>
              <a:t>Future Vitality</a:t>
            </a:r>
            <a:endParaRPr lang="en-US" sz="1800" dirty="0"/>
          </a:p>
        </p:txBody>
      </p:sp>
      <p:sp>
        <p:nvSpPr>
          <p:cNvPr id="19" name="Text 16"/>
          <p:cNvSpPr/>
          <p:nvPr/>
        </p:nvSpPr>
        <p:spPr>
          <a:xfrm>
            <a:off x="7638574" y="5250656"/>
            <a:ext cx="6148030" cy="494824"/>
          </a:xfrm>
          <a:prstGeom prst="rect">
            <a:avLst/>
          </a:prstGeom>
          <a:noFill/>
          <a:ln/>
        </p:spPr>
        <p:txBody>
          <a:bodyPr wrap="square" lIns="0" tIns="0" rIns="0" bIns="0" rtlCol="0" anchor="t"/>
          <a:lstStyle/>
          <a:p>
            <a:pPr marL="0" indent="0" algn="l">
              <a:lnSpc>
                <a:spcPts val="1900"/>
              </a:lnSpc>
              <a:buNone/>
            </a:pPr>
            <a:r>
              <a:rPr lang="en-US" sz="1200" dirty="0">
                <a:solidFill>
                  <a:srgbClr val="61615C"/>
                </a:solidFill>
                <a:latin typeface="Tomorrow" pitchFamily="34" charset="0"/>
                <a:ea typeface="Tomorrow" pitchFamily="34" charset="-122"/>
                <a:cs typeface="Tomorrow" pitchFamily="34" charset="-120"/>
              </a:rPr>
              <a:t>Despite challenges in data and resources, CNNs are a vital tool for the future of network security and monitoring.</a:t>
            </a:r>
            <a:endParaRPr lang="en-US" sz="1200" dirty="0"/>
          </a:p>
        </p:txBody>
      </p:sp>
      <p:sp>
        <p:nvSpPr>
          <p:cNvPr id="20" name="Shape 17"/>
          <p:cNvSpPr/>
          <p:nvPr/>
        </p:nvSpPr>
        <p:spPr>
          <a:xfrm>
            <a:off x="666274" y="6174197"/>
            <a:ext cx="13297852" cy="26908"/>
          </a:xfrm>
          <a:prstGeom prst="rect">
            <a:avLst/>
          </a:prstGeom>
          <a:solidFill>
            <a:srgbClr val="61615C">
              <a:alpha val="50000"/>
            </a:srgbClr>
          </a:solidFill>
          <a:ln/>
        </p:spPr>
        <p:txBody>
          <a:bodyPr/>
          <a:lstStyle/>
          <a:p>
            <a:endParaRPr lang="en-PK"/>
          </a:p>
        </p:txBody>
      </p:sp>
      <p:sp>
        <p:nvSpPr>
          <p:cNvPr id="21" name="Text 18"/>
          <p:cNvSpPr/>
          <p:nvPr/>
        </p:nvSpPr>
        <p:spPr>
          <a:xfrm>
            <a:off x="666274" y="6432947"/>
            <a:ext cx="6409730" cy="666988"/>
          </a:xfrm>
          <a:prstGeom prst="rect">
            <a:avLst/>
          </a:prstGeom>
          <a:noFill/>
          <a:ln/>
        </p:spPr>
        <p:txBody>
          <a:bodyPr wrap="none" lIns="0" tIns="0" rIns="0" bIns="0" rtlCol="0" anchor="t"/>
          <a:lstStyle/>
          <a:p>
            <a:pPr marL="0" indent="0" algn="l">
              <a:lnSpc>
                <a:spcPts val="5250"/>
              </a:lnSpc>
              <a:buNone/>
            </a:pPr>
            <a:r>
              <a:rPr lang="en-US" sz="4200" dirty="0">
                <a:solidFill>
                  <a:srgbClr val="1D1D1B"/>
                </a:solidFill>
                <a:latin typeface="Tomorrow Semi Bold" pitchFamily="34" charset="0"/>
                <a:ea typeface="Tomorrow Semi Bold" pitchFamily="34" charset="-122"/>
                <a:cs typeface="Tomorrow Semi Bold" pitchFamily="34" charset="-120"/>
              </a:rPr>
              <a:t>Questions &amp; Discussion </a:t>
            </a:r>
            <a:endParaRPr lang="en-US" sz="4200" dirty="0"/>
          </a:p>
        </p:txBody>
      </p:sp>
      <p:sp>
        <p:nvSpPr>
          <p:cNvPr id="22" name="Text 19"/>
          <p:cNvSpPr/>
          <p:nvPr/>
        </p:nvSpPr>
        <p:spPr>
          <a:xfrm>
            <a:off x="666274" y="7331869"/>
            <a:ext cx="13297852" cy="247412"/>
          </a:xfrm>
          <a:prstGeom prst="rect">
            <a:avLst/>
          </a:prstGeom>
          <a:noFill/>
          <a:ln/>
        </p:spPr>
        <p:txBody>
          <a:bodyPr wrap="none" lIns="0" tIns="0" rIns="0" bIns="0" rtlCol="0" anchor="t"/>
          <a:lstStyle/>
          <a:p>
            <a:pPr marL="0" indent="0" algn="l">
              <a:lnSpc>
                <a:spcPts val="1900"/>
              </a:lnSpc>
              <a:buNone/>
            </a:pPr>
            <a:r>
              <a:rPr lang="en-US" sz="1200" dirty="0">
                <a:solidFill>
                  <a:srgbClr val="61615C"/>
                </a:solidFill>
                <a:latin typeface="Tomorrow" pitchFamily="34" charset="0"/>
                <a:ea typeface="Tomorrow" pitchFamily="34" charset="-122"/>
                <a:cs typeface="Tomorrow" pitchFamily="34" charset="-120"/>
              </a:rPr>
              <a:t>Thank You for your attention. We are now open for questions.</a:t>
            </a:r>
            <a:endParaRPr lang="en-US" sz="1200" dirty="0"/>
          </a:p>
        </p:txBody>
      </p:sp>
      <p:sp>
        <p:nvSpPr>
          <p:cNvPr id="23" name="Rounded Rectangle 22">
            <a:extLst>
              <a:ext uri="{FF2B5EF4-FFF2-40B4-BE49-F238E27FC236}">
                <a16:creationId xmlns:a16="http://schemas.microsoft.com/office/drawing/2014/main" id="{F1E41BA2-DA0A-D0C6-CBC9-9586B447FF9A}"/>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B9E6A-3E33-CE23-D7F7-1246D0A84B5D}"/>
              </a:ext>
            </a:extLst>
          </p:cNvPr>
          <p:cNvSpPr txBox="1"/>
          <p:nvPr/>
        </p:nvSpPr>
        <p:spPr>
          <a:xfrm>
            <a:off x="556607" y="1714143"/>
            <a:ext cx="5991677" cy="4801314"/>
          </a:xfrm>
          <a:prstGeom prst="rect">
            <a:avLst/>
          </a:prstGeom>
          <a:noFill/>
        </p:spPr>
        <p:txBody>
          <a:bodyPr wrap="square">
            <a:spAutoFit/>
          </a:bodyPr>
          <a:lstStyle/>
          <a:p>
            <a:endParaRPr lang="en-GB" dirty="0"/>
          </a:p>
          <a:p>
            <a:pPr>
              <a:buFont typeface="Arial" panose="020B0604020202020204" pitchFamily="34" charset="0"/>
              <a:buChar char="•"/>
            </a:pPr>
            <a:r>
              <a:rPr lang="en-GB" dirty="0"/>
              <a:t>VIGILANTE is an </a:t>
            </a:r>
            <a:r>
              <a:rPr lang="en-GB" b="1" dirty="0"/>
              <a:t>AI-powered network monitoring and cybersecurity framework</a:t>
            </a:r>
            <a:r>
              <a:rPr lang="en-GB" dirty="0"/>
              <a:t> developed to enhance large institutional infrastructures such as </a:t>
            </a:r>
            <a:r>
              <a:rPr lang="en-GB" b="1" dirty="0"/>
              <a:t>GIKI’s network</a:t>
            </a:r>
            <a:r>
              <a:rPr lang="en-GB" dirty="0"/>
              <a:t>.</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r>
              <a:rPr lang="en-GB" dirty="0"/>
              <a:t>It integrates </a:t>
            </a:r>
            <a:r>
              <a:rPr lang="en-GB" b="1" dirty="0"/>
              <a:t>GRU-based neural networks</a:t>
            </a:r>
            <a:r>
              <a:rPr lang="en-GB" dirty="0"/>
              <a:t>, </a:t>
            </a:r>
            <a:r>
              <a:rPr lang="en-GB" b="1" dirty="0"/>
              <a:t>symbolic flow encoding</a:t>
            </a:r>
            <a:r>
              <a:rPr lang="en-GB" dirty="0"/>
              <a:t>, and </a:t>
            </a:r>
            <a:r>
              <a:rPr lang="en-GB" b="1" dirty="0" err="1"/>
              <a:t>Zeek</a:t>
            </a:r>
            <a:r>
              <a:rPr lang="en-GB" b="1" dirty="0"/>
              <a:t>-powered traffic monitoring</a:t>
            </a:r>
            <a:r>
              <a:rPr lang="en-GB" dirty="0"/>
              <a:t> for </a:t>
            </a:r>
            <a:r>
              <a:rPr lang="en-GB" b="1" dirty="0"/>
              <a:t>real-time anomaly detection</a:t>
            </a:r>
            <a:r>
              <a:rPr lang="en-GB" dirty="0"/>
              <a:t> and </a:t>
            </a:r>
            <a:r>
              <a:rPr lang="en-GB" b="1" dirty="0"/>
              <a:t>intelligent traffic optimization</a:t>
            </a:r>
            <a:r>
              <a:rPr lang="en-GB" dirty="0"/>
              <a:t>.</a:t>
            </a:r>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endParaRPr lang="en-GB" dirty="0"/>
          </a:p>
          <a:p>
            <a:pPr>
              <a:buFont typeface="Arial" panose="020B0604020202020204" pitchFamily="34" charset="0"/>
              <a:buChar char="•"/>
            </a:pPr>
            <a:r>
              <a:rPr lang="en-GB" dirty="0"/>
              <a:t>Built on a </a:t>
            </a:r>
            <a:r>
              <a:rPr lang="en-GB" b="1" dirty="0"/>
              <a:t>hybrid microservices and event-driven architecture</a:t>
            </a:r>
            <a:r>
              <a:rPr lang="en-GB" dirty="0"/>
              <a:t>, it ensures modularity, scalability, and responsiveness in managing complex network environments.</a:t>
            </a:r>
          </a:p>
        </p:txBody>
      </p:sp>
      <p:sp>
        <p:nvSpPr>
          <p:cNvPr id="4" name="Rounded Rectangle 3">
            <a:extLst>
              <a:ext uri="{FF2B5EF4-FFF2-40B4-BE49-F238E27FC236}">
                <a16:creationId xmlns:a16="http://schemas.microsoft.com/office/drawing/2014/main" id="{F4AA8AB7-9F33-8280-E9C2-6C081DED707E}"/>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10</a:t>
            </a:r>
          </a:p>
        </p:txBody>
      </p:sp>
      <p:pic>
        <p:nvPicPr>
          <p:cNvPr id="6" name="Picture 5" descr="A table of informational data&#10;&#10;Description automatically generated with medium confidence">
            <a:extLst>
              <a:ext uri="{FF2B5EF4-FFF2-40B4-BE49-F238E27FC236}">
                <a16:creationId xmlns:a16="http://schemas.microsoft.com/office/drawing/2014/main" id="{5451EE1C-20C8-AD55-E2CA-6843231594A3}"/>
              </a:ext>
            </a:extLst>
          </p:cNvPr>
          <p:cNvPicPr>
            <a:picLocks noChangeAspect="1"/>
          </p:cNvPicPr>
          <p:nvPr/>
        </p:nvPicPr>
        <p:blipFill>
          <a:blip r:embed="rId2"/>
          <a:stretch>
            <a:fillRect/>
          </a:stretch>
        </p:blipFill>
        <p:spPr>
          <a:xfrm rot="5400000">
            <a:off x="7639545" y="99288"/>
            <a:ext cx="5930900" cy="7670800"/>
          </a:xfrm>
          <a:prstGeom prst="rect">
            <a:avLst/>
          </a:prstGeom>
        </p:spPr>
      </p:pic>
      <p:sp>
        <p:nvSpPr>
          <p:cNvPr id="7" name="Rounded Rectangle 6">
            <a:extLst>
              <a:ext uri="{FF2B5EF4-FFF2-40B4-BE49-F238E27FC236}">
                <a16:creationId xmlns:a16="http://schemas.microsoft.com/office/drawing/2014/main" id="{1485291B-ABDC-FCC6-8E4E-8E9C9A2F8359}"/>
              </a:ext>
            </a:extLst>
          </p:cNvPr>
          <p:cNvSpPr/>
          <p:nvPr/>
        </p:nvSpPr>
        <p:spPr>
          <a:xfrm>
            <a:off x="8324606" y="1312606"/>
            <a:ext cx="568671" cy="1179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sz="1200" dirty="0">
                <a:latin typeface="Times New Roman" panose="02020603050405020304" pitchFamily="18" charset="0"/>
                <a:cs typeface="Times New Roman" panose="02020603050405020304" pitchFamily="18" charset="0"/>
              </a:rPr>
              <a:t>Table</a:t>
            </a:r>
          </a:p>
        </p:txBody>
      </p:sp>
      <p:sp>
        <p:nvSpPr>
          <p:cNvPr id="9" name="TextBox 8">
            <a:extLst>
              <a:ext uri="{FF2B5EF4-FFF2-40B4-BE49-F238E27FC236}">
                <a16:creationId xmlns:a16="http://schemas.microsoft.com/office/drawing/2014/main" id="{C0CF2764-0986-925B-0073-735E9B1F01B1}"/>
              </a:ext>
            </a:extLst>
          </p:cNvPr>
          <p:cNvSpPr txBox="1"/>
          <p:nvPr/>
        </p:nvSpPr>
        <p:spPr>
          <a:xfrm>
            <a:off x="556607" y="611523"/>
            <a:ext cx="7315200" cy="369332"/>
          </a:xfrm>
          <a:prstGeom prst="rect">
            <a:avLst/>
          </a:prstGeom>
          <a:noFill/>
        </p:spPr>
        <p:txBody>
          <a:bodyPr wrap="square">
            <a:spAutoFit/>
          </a:bodyPr>
          <a:lstStyle/>
          <a:p>
            <a:r>
              <a:rPr lang="en-GB" dirty="0"/>
              <a:t> </a:t>
            </a:r>
            <a:r>
              <a:rPr lang="en-GB" i="1" dirty="0"/>
              <a:t>AI-Driven Network Monitoring and Security System (VIGILANTE)</a:t>
            </a:r>
          </a:p>
        </p:txBody>
      </p:sp>
    </p:spTree>
    <p:extLst>
      <p:ext uri="{BB962C8B-B14F-4D97-AF65-F5344CB8AC3E}">
        <p14:creationId xmlns:p14="http://schemas.microsoft.com/office/powerpoint/2010/main" val="2280215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15EC0E-1631-E8D6-E12D-2569BC771194}"/>
              </a:ext>
            </a:extLst>
          </p:cNvPr>
          <p:cNvSpPr txBox="1"/>
          <p:nvPr/>
        </p:nvSpPr>
        <p:spPr>
          <a:xfrm>
            <a:off x="1193469" y="477332"/>
            <a:ext cx="11198431" cy="707886"/>
          </a:xfrm>
          <a:prstGeom prst="rect">
            <a:avLst/>
          </a:prstGeom>
          <a:noFill/>
        </p:spPr>
        <p:txBody>
          <a:bodyPr wrap="square">
            <a:spAutoFit/>
          </a:bodyPr>
          <a:lstStyle/>
          <a:p>
            <a:r>
              <a:rPr lang="en-US" sz="4000" dirty="0">
                <a:solidFill>
                  <a:srgbClr val="1D1D1B"/>
                </a:solidFill>
                <a:latin typeface="Tomorrow Semi Bold" pitchFamily="34" charset="0"/>
                <a:ea typeface="Tomorrow Semi Bold" pitchFamily="34" charset="-122"/>
                <a:cs typeface="Tomorrow Semi Bold" pitchFamily="34" charset="-120"/>
              </a:rPr>
              <a:t>Relevance to our Project</a:t>
            </a:r>
            <a:endParaRPr lang="en-GB" sz="4000" dirty="0"/>
          </a:p>
        </p:txBody>
      </p:sp>
      <p:sp>
        <p:nvSpPr>
          <p:cNvPr id="4" name="Rounded Rectangle 3">
            <a:extLst>
              <a:ext uri="{FF2B5EF4-FFF2-40B4-BE49-F238E27FC236}">
                <a16:creationId xmlns:a16="http://schemas.microsoft.com/office/drawing/2014/main" id="{CC699EC6-4416-D6D9-51ED-FE799E6BFFA7}"/>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11</a:t>
            </a:r>
          </a:p>
        </p:txBody>
      </p:sp>
      <p:graphicFrame>
        <p:nvGraphicFramePr>
          <p:cNvPr id="5" name="Table 4">
            <a:extLst>
              <a:ext uri="{FF2B5EF4-FFF2-40B4-BE49-F238E27FC236}">
                <a16:creationId xmlns:a16="http://schemas.microsoft.com/office/drawing/2014/main" id="{5BBC830E-3341-8309-4E19-CEE254C714BE}"/>
              </a:ext>
            </a:extLst>
          </p:cNvPr>
          <p:cNvGraphicFramePr>
            <a:graphicFrameLocks noGrp="1"/>
          </p:cNvGraphicFramePr>
          <p:nvPr>
            <p:extLst>
              <p:ext uri="{D42A27DB-BD31-4B8C-83A1-F6EECF244321}">
                <p14:modId xmlns:p14="http://schemas.microsoft.com/office/powerpoint/2010/main" val="121425661"/>
              </p:ext>
            </p:extLst>
          </p:nvPr>
        </p:nvGraphicFramePr>
        <p:xfrm>
          <a:off x="1193469" y="1306286"/>
          <a:ext cx="12243462" cy="5949539"/>
        </p:xfrm>
        <a:graphic>
          <a:graphicData uri="http://schemas.openxmlformats.org/drawingml/2006/table">
            <a:tbl>
              <a:tblPr>
                <a:tableStyleId>{2D5ABB26-0587-4C30-8999-92F81FD0307C}</a:tableStyleId>
              </a:tblPr>
              <a:tblGrid>
                <a:gridCol w="4081154">
                  <a:extLst>
                    <a:ext uri="{9D8B030D-6E8A-4147-A177-3AD203B41FA5}">
                      <a16:colId xmlns:a16="http://schemas.microsoft.com/office/drawing/2014/main" val="550368313"/>
                    </a:ext>
                  </a:extLst>
                </a:gridCol>
                <a:gridCol w="4081154">
                  <a:extLst>
                    <a:ext uri="{9D8B030D-6E8A-4147-A177-3AD203B41FA5}">
                      <a16:colId xmlns:a16="http://schemas.microsoft.com/office/drawing/2014/main" val="224310948"/>
                    </a:ext>
                  </a:extLst>
                </a:gridCol>
                <a:gridCol w="4081154">
                  <a:extLst>
                    <a:ext uri="{9D8B030D-6E8A-4147-A177-3AD203B41FA5}">
                      <a16:colId xmlns:a16="http://schemas.microsoft.com/office/drawing/2014/main" val="198252436"/>
                    </a:ext>
                  </a:extLst>
                </a:gridCol>
              </a:tblGrid>
              <a:tr h="852504">
                <a:tc>
                  <a:txBody>
                    <a:bodyPr/>
                    <a:lstStyle/>
                    <a:p>
                      <a:r>
                        <a:rPr lang="en-GB" sz="1500" b="1" dirty="0"/>
                        <a:t>Aspect</a:t>
                      </a:r>
                      <a:endParaRPr lang="en-GB" sz="1500" dirty="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b="1" dirty="0"/>
                        <a:t>VIGILANTE</a:t>
                      </a:r>
                      <a:endParaRPr lang="en-GB" sz="1500" dirty="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b="1"/>
                        <a:t>Our AI-Based Network Monitoring System</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6550859"/>
                  </a:ext>
                </a:extLst>
              </a:tr>
              <a:tr h="784285">
                <a:tc>
                  <a:txBody>
                    <a:bodyPr/>
                    <a:lstStyle/>
                    <a:p>
                      <a:r>
                        <a:rPr lang="en-GB" sz="1500" b="1"/>
                        <a:t>Core Objective</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dirty="0"/>
                        <a:t>Real-time AI-driven network monitoring, intrusion prevention, and performance optimization</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Intelligent monitoring and anomaly detection for secure and optimized networks</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7717496"/>
                  </a:ext>
                </a:extLst>
              </a:tr>
              <a:tr h="548836">
                <a:tc>
                  <a:txBody>
                    <a:bodyPr/>
                    <a:lstStyle/>
                    <a:p>
                      <a:r>
                        <a:rPr lang="en-GB" sz="1500" b="1"/>
                        <a:t>Architecture</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Hybrid microservices and event-driven design ensuring modularity and scalability</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Modular and distributed design for scalable, efficient monitoring</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963431"/>
                  </a:ext>
                </a:extLst>
              </a:tr>
              <a:tr h="784285">
                <a:tc>
                  <a:txBody>
                    <a:bodyPr/>
                    <a:lstStyle/>
                    <a:p>
                      <a:r>
                        <a:rPr lang="en-GB" sz="1500" b="1"/>
                        <a:t>AI Models Used</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GRU-based RNN for threat classification, clustering &amp; reinforcement learning for optimization</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CNN/DNN models for anomaly detection and real-time traffic pattern analysis</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370370"/>
                  </a:ext>
                </a:extLst>
              </a:tr>
              <a:tr h="548836">
                <a:tc>
                  <a:txBody>
                    <a:bodyPr/>
                    <a:lstStyle/>
                    <a:p>
                      <a:r>
                        <a:rPr lang="en-GB" sz="1500" b="1"/>
                        <a:t>Traffic Monitoring Tool</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Passive monitoring with </a:t>
                      </a:r>
                      <a:r>
                        <a:rPr lang="en-GB" sz="1500" b="1"/>
                        <a:t>Zeek</a:t>
                      </a:r>
                      <a:r>
                        <a:rPr lang="en-GB" sz="1500"/>
                        <a:t> and symbolic flow encoding</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Real-time packet capture and flow-based monitoring</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967529"/>
                  </a:ext>
                </a:extLst>
              </a:tr>
              <a:tr h="548836">
                <a:tc>
                  <a:txBody>
                    <a:bodyPr/>
                    <a:lstStyle/>
                    <a:p>
                      <a:r>
                        <a:rPr lang="en-GB" sz="1500" b="1"/>
                        <a:t>Optimization Strategy</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Adaptive performance tuning using AI optimization module</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Machine learning–based bandwidth and latency optimization</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4351484"/>
                  </a:ext>
                </a:extLst>
              </a:tr>
              <a:tr h="548836">
                <a:tc>
                  <a:txBody>
                    <a:bodyPr/>
                    <a:lstStyle/>
                    <a:p>
                      <a:r>
                        <a:rPr lang="en-GB" sz="1500" b="1"/>
                        <a:t>Alerting &amp; Visualization</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Mobile dashboard with live alerts, topology view, and remote control</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Centralized web interface with intelligent alert system and visual analytics</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9961250"/>
                  </a:ext>
                </a:extLst>
              </a:tr>
              <a:tr h="548836">
                <a:tc>
                  <a:txBody>
                    <a:bodyPr/>
                    <a:lstStyle/>
                    <a:p>
                      <a:r>
                        <a:rPr lang="en-GB" sz="1500" b="1"/>
                        <a:t>Results Achieved</a:t>
                      </a:r>
                      <a:endParaRPr lang="en-GB" sz="150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97.3% detection accuracy, 12% bandwidth gain, 18% latency reduction</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a:t>Targeting similar or improved detection accuracy and performance enhancement</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3933579"/>
                  </a:ext>
                </a:extLst>
              </a:tr>
              <a:tr h="784285">
                <a:tc>
                  <a:txBody>
                    <a:bodyPr/>
                    <a:lstStyle/>
                    <a:p>
                      <a:r>
                        <a:rPr lang="en-GB" sz="1500" b="1" dirty="0"/>
                        <a:t>Future Scope</a:t>
                      </a:r>
                      <a:endParaRPr lang="en-GB" sz="1500" dirty="0"/>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500"/>
                        <a:t>Integration of SDN, advanced deep learning models, and external threat intelligence</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500" dirty="0"/>
                        <a:t>Incorporating hybrid ML models, cloud scalability, and extended automation features</a:t>
                      </a:r>
                    </a:p>
                  </a:txBody>
                  <a:tcPr marL="75671" marR="75671" marT="37835" marB="37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187170"/>
                  </a:ext>
                </a:extLst>
              </a:tr>
            </a:tbl>
          </a:graphicData>
        </a:graphic>
      </p:graphicFrame>
    </p:spTree>
    <p:extLst>
      <p:ext uri="{BB962C8B-B14F-4D97-AF65-F5344CB8AC3E}">
        <p14:creationId xmlns:p14="http://schemas.microsoft.com/office/powerpoint/2010/main" val="74583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AD2083-18AC-92E0-0A50-C2510210C62C}"/>
              </a:ext>
            </a:extLst>
          </p:cNvPr>
          <p:cNvSpPr txBox="1"/>
          <p:nvPr/>
        </p:nvSpPr>
        <p:spPr>
          <a:xfrm>
            <a:off x="5070763" y="3016332"/>
            <a:ext cx="2898550" cy="769441"/>
          </a:xfrm>
          <a:prstGeom prst="rect">
            <a:avLst/>
          </a:prstGeom>
          <a:noFill/>
        </p:spPr>
        <p:txBody>
          <a:bodyPr wrap="none" rtlCol="0">
            <a:spAutoFit/>
          </a:bodyPr>
          <a:lstStyle/>
          <a:p>
            <a:r>
              <a:rPr lang="en-US" sz="4400" dirty="0">
                <a:solidFill>
                  <a:srgbClr val="1D1D1B"/>
                </a:solidFill>
                <a:latin typeface="Tomorrow Semi Bold" pitchFamily="34" charset="0"/>
                <a:ea typeface="Tomorrow Semi Bold" pitchFamily="34" charset="-122"/>
                <a:cs typeface="Tomorrow Semi Bold" pitchFamily="34" charset="-120"/>
              </a:rPr>
              <a:t>Thank You</a:t>
            </a:r>
            <a:endParaRPr lang="en-PK" sz="4200" dirty="0"/>
          </a:p>
        </p:txBody>
      </p:sp>
      <p:sp>
        <p:nvSpPr>
          <p:cNvPr id="3" name="Rounded Rectangle 2">
            <a:extLst>
              <a:ext uri="{FF2B5EF4-FFF2-40B4-BE49-F238E27FC236}">
                <a16:creationId xmlns:a16="http://schemas.microsoft.com/office/drawing/2014/main" id="{FB539588-4141-EF98-3E7E-04FBE91141C4}"/>
              </a:ext>
            </a:extLst>
          </p:cNvPr>
          <p:cNvSpPr/>
          <p:nvPr/>
        </p:nvSpPr>
        <p:spPr>
          <a:xfrm>
            <a:off x="12813475" y="7730836"/>
            <a:ext cx="1733798" cy="3800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PK" dirty="0"/>
              <a:t>12</a:t>
            </a:r>
          </a:p>
        </p:txBody>
      </p:sp>
    </p:spTree>
    <p:extLst>
      <p:ext uri="{BB962C8B-B14F-4D97-AF65-F5344CB8AC3E}">
        <p14:creationId xmlns:p14="http://schemas.microsoft.com/office/powerpoint/2010/main" val="1925027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1453</Words>
  <Application>Microsoft Macintosh PowerPoint</Application>
  <PresentationFormat>Custom</PresentationFormat>
  <Paragraphs>170</Paragraphs>
  <Slides>12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Tomorrow Semi Bold</vt:lpstr>
      <vt:lpstr>Tomorrow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u2022447</cp:lastModifiedBy>
  <cp:revision>3</cp:revision>
  <dcterms:created xsi:type="dcterms:W3CDTF">2025-10-15T08:51:10Z</dcterms:created>
  <dcterms:modified xsi:type="dcterms:W3CDTF">2025-10-15T10:18:36Z</dcterms:modified>
</cp:coreProperties>
</file>